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BALANCED</c:v>
                </c:pt>
              </c:strCache>
            </c:strRef>
          </c:tx>
          <c:spPr>
            <a:solidFill>
              <a:srgbClr val="5B7B4A"/>
            </a:solidFill>
            <a:effectLst/>
          </c:spPr>
          <c:invertIfNegative val="0"/>
          <c:dLbls>
            <c:numFmt formatCode="#,##0" sourceLinked="0"/>
            <c:txPr>
              <a:bodyPr/>
              <a:lstStyle/>
              <a:p>
                <a:pPr>
                  <a:defRPr b="0" i="0" strike="noStrike" sz="1000" u="none">
                    <a:solidFill>
                      <a:srgbClr val="14181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Sheet1!$B$2:$B$4</c:f>
              <c:numCache>
                <c:formatCode>General</c:formatCode>
                <c:ptCount val="3"/>
                <c:pt idx="0">
                  <c:v>22.9</c:v>
                </c:pt>
                <c:pt idx="1">
                  <c:v>29.2</c:v>
                </c:pt>
                <c:pt idx="2">
                  <c:v>28.4</c:v>
                </c:pt>
              </c:numCache>
            </c:numRef>
          </c:val>
        </c:ser>
        <c:ser>
          <c:idx val="1"/>
          <c:order val="1"/>
          <c:tx>
            <c:strRef>
              <c:f>Sheet1!$C$1</c:f>
              <c:strCache>
                <c:ptCount val="1"/>
                <c:pt idx="0">
                  <c:v>NEAREST</c:v>
                </c:pt>
              </c:strCache>
            </c:strRef>
          </c:tx>
          <c:spPr>
            <a:solidFill>
              <a:srgbClr val="3E6A8A"/>
            </a:solidFill>
            <a:effectLst/>
          </c:spPr>
          <c:invertIfNegative val="0"/>
          <c:dLbls>
            <c:numFmt formatCode="#,##0" sourceLinked="0"/>
            <c:txPr>
              <a:bodyPr/>
              <a:lstStyle/>
              <a:p>
                <a:pPr>
                  <a:defRPr b="0" i="0" strike="noStrike" sz="1000" u="none">
                    <a:solidFill>
                      <a:srgbClr val="14181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Sheet1!$C$2:$C$4</c:f>
              <c:numCache>
                <c:formatCode>General</c:formatCode>
                <c:ptCount val="3"/>
                <c:pt idx="0">
                  <c:v>24.3</c:v>
                </c:pt>
                <c:pt idx="1">
                  <c:v>32.2</c:v>
                </c:pt>
                <c:pt idx="2">
                  <c:v>34.8</c:v>
                </c:pt>
              </c:numCache>
            </c:numRef>
          </c:val>
        </c:ser>
        <c:ser>
          <c:idx val="2"/>
          <c:order val="2"/>
          <c:tx>
            <c:strRef>
              <c:f>Sheet1!$D$1</c:f>
              <c:strCache>
                <c:ptCount val="1"/>
                <c:pt idx="0">
                  <c:v>SURPLUS</c:v>
                </c:pt>
              </c:strCache>
            </c:strRef>
          </c:tx>
          <c:spPr>
            <a:solidFill>
              <a:srgbClr val="E0A400"/>
            </a:solidFill>
            <a:effectLst/>
          </c:spPr>
          <c:invertIfNegative val="0"/>
          <c:dLbls>
            <c:numFmt formatCode="#,##0" sourceLinked="0"/>
            <c:txPr>
              <a:bodyPr/>
              <a:lstStyle/>
              <a:p>
                <a:pPr>
                  <a:defRPr b="0" i="0" strike="noStrike" sz="1000" u="none">
                    <a:solidFill>
                      <a:srgbClr val="14181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Sheet1!$D$2:$D$4</c:f>
              <c:numCache>
                <c:formatCode>General</c:formatCode>
                <c:ptCount val="3"/>
                <c:pt idx="0">
                  <c:v>26.5</c:v>
                </c:pt>
                <c:pt idx="1">
                  <c:v>36.3</c:v>
                </c:pt>
                <c:pt idx="2">
                  <c:v>40</c:v>
                </c:pt>
              </c:numCache>
            </c:numRef>
          </c:val>
        </c:ser>
        <c:ser>
          <c:idx val="3"/>
          <c:order val="3"/>
          <c:tx>
            <c:strRef>
              <c:f>Sheet1!$E$1</c:f>
              <c:strCache>
                <c:ptCount val="1"/>
                <c:pt idx="0">
                  <c:v>RANDOM</c:v>
                </c:pt>
              </c:strCache>
            </c:strRef>
          </c:tx>
          <c:spPr>
            <a:solidFill>
              <a:srgbClr val="9AA3AB"/>
            </a:solidFill>
            <a:effectLst/>
          </c:spPr>
          <c:invertIfNegative val="0"/>
          <c:dLbls>
            <c:numFmt formatCode="#,##0" sourceLinked="0"/>
            <c:txPr>
              <a:bodyPr/>
              <a:lstStyle/>
              <a:p>
                <a:pPr>
                  <a:defRPr b="0" i="0" strike="noStrike" sz="1000" u="none">
                    <a:solidFill>
                      <a:srgbClr val="14181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Sheet1!$E$2:$E$4</c:f>
              <c:numCache>
                <c:formatCode>General</c:formatCode>
                <c:ptCount val="3"/>
                <c:pt idx="0">
                  <c:v>34</c:v>
                </c:pt>
                <c:pt idx="1">
                  <c:v>48.7</c:v>
                </c:pt>
                <c:pt idx="2">
                  <c:v>55.7</c:v>
                </c:pt>
              </c:numCache>
            </c:numRef>
          </c:val>
        </c:ser>
        <c:dLbls>
          <c:numFmt formatCode="#,##0" sourceLinked="0"/>
          <c:txPr>
            <a:bodyPr/>
            <a:lstStyle/>
            <a:p>
              <a:pPr>
                <a:defRPr b="0" i="0" strike="noStrike" sz="1000" u="none">
                  <a:solidFill>
                    <a:srgbClr val="14181C"/>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181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5DC"/>
              </a:solidFill>
              <a:prstDash val="solid"/>
              <a:round/>
            </a:ln>
          </c:spPr>
        </c:majorGridlines>
        <c:title>
          <c:tx>
            <c:rich>
              <a:bodyPr/>
              <a:lstStyle/>
              <a:p>
                <a:pPr>
                  <a:defRPr sz="1100" b="0" i="0" u="none" strike="noStrike">
                    <a:solidFill>
                      <a:srgbClr val="5A646E"/>
                    </a:solidFill>
                    <a:latin typeface="Arial"/>
                  </a:defRPr>
                </a:pPr>
                <a:r>
                  <a:rPr sz="1100" b="0" i="0" u="none" strike="noStrike">
                    <a:solidFill>
                      <a:srgbClr val="5A646E"/>
                    </a:solidFill>
                    <a:latin typeface="Arial"/>
                  </a:rPr>
                  <a:t>Mean lead time (hours)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faculty. One sentence: we built a Java system that models moving supplies between defence bases, and we used it to test which dispatch rules work best. 15 minutes: about 8 on slides, 5 on live demo, 2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bases hold stock (fuel, food, medical, ammunition, spares). Requests appear at different priorities. Someone has to decide which base donates, which vehicle carries it. Doing that by hand is slow and inconsistent. Our goals: model it with clean OOP, make the decision rules swappable, and measure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The terminal UI only talks to LogisticsManager, the facade. Services hold the rules. Strategies are swappable. Model holds the data objects. Persistence reads and writes CSV. The sim package replays scenarios for the experiments. 66 types, about 5,700 lines of main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concepts to concrete code. Encapsulation: private fields, validated setters. Inheritance and polymorphism: abstract Vehicle with Truck, FuelTruck, MedicalVan, Helicopter; estimateHours is a template method. Interfaces: Trackable, Deliverable, Persistable. Generics: Registry&lt;T&gt;, CsvRepository&lt;T&gt;. Exceptions: a LogisticsException hierarchy for domain refusals.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domain model, vehicle inheritance. Right: services, strategies and facade. The exception hierarchy and a sequence diagram of the demo are in the repository. Say: all diagrams are in the docs folder on GitHub, with the link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is the core idea: donor selection (NEAREST, SURPLUS, BALANCED) and vehicle selection (SMALLEST, FASTEST) are objects you can swap at run time with the STRAT command. Facade keeps the UI simple. Template Method: Vehicle.estimateHours. Dependency injection makes everything testable. Key domain rule: donors only give stock above their reorder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about 5 minutes. Have the terminal open and the jar already built. Backup: run.bat --demo auto-plays the same scenario. Say what you type before you type it. Point out the stock change at the donor and at Pune, the vehicle chosen, and the KPI report. If something fails, run SAVE and LOAD from the demo folder. Full script: docs/demo_script.md.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1,080 simulation runs: 3 dataset sizes, 30 random datasets each, 4 donor rules, 3 vehicle rules. Each run replays a stream of requests hour by hour. We report averages with 95% confidence intervals and paired Wilcoxon tests with Holm correction. All data is synthetic, so results describe the model, not real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lead time in hours, fastest-vehicle rule. On large: BALANCED 28.4 h, NEAREST 34.8 h, SURPLUS 40.0 h, RANDOM 55.7 h. BALANCED beats NEAREST by 6.3 h on large (adjusted p about 1e-6). On small the gap is not significant. NEAREST uses the least distance; SURPLUS costs about 42% more distance than NEAREST on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NEAREST with FASTEST versus fully random choices. Lead time roughly halves or better. CRITICAL requests delivered within 24 hours go from about a quarter or a third to about 75-85 percent. Distance is 35-42 percent lower. Caution: the baseline is deliberately weak, so this is an upper bound on practical benefit. Fulfilment rate on small does not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 automated JUnit tests across 21 classes, every one of the 66 types is exercised. Experiments are deterministic: same seed, same result, checked by a script. Honest limits: about 2 percent of requests stay open in every run. We diagnosed it: mostly stock-limited because donors keep a reorder floor, and a backlog of slow fuel trucks on larger sizes. We did not test a longer horizon or more fuel trucks. This is listed in the report under Known inconsistencies.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30 seconds. Repeat the one-line takeaway, point to the GitHub link, invite questions. Likely questions: why BALANCED wins (it avoids draining one donor), why 2% stay open (reorder floor and fuel trucks), how to load your own data (docs/bring_your_own_data.md).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81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withvedantpathak/defence_logistics_and_supply_chain_management_system_using_objectorientedprogramming"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3657600" cy="365760"/>
          </a:xfrm>
          <a:prstGeom prst="rect">
            <a:avLst/>
          </a:prstGeom>
          <a:noFill/>
          <a:ln/>
        </p:spPr>
        <p:txBody>
          <a:bodyPr wrap="square" lIns="0" tIns="0" rIns="0" bIns="0" rtlCol="0" anchor="ctr"/>
          <a:lstStyle/>
          <a:p>
            <a:pPr indent="0" marL="0">
              <a:buNone/>
            </a:pPr>
            <a:r>
              <a:rPr lang="en-US" sz="1600" b="1" spc="600" kern="0" dirty="0">
                <a:solidFill>
                  <a:srgbClr val="E0A400"/>
                </a:solidFill>
              </a:rPr>
              <a:t>DLSCMS</a:t>
            </a:r>
            <a:endParaRPr lang="en-US" sz="1600" dirty="0"/>
          </a:p>
        </p:txBody>
      </p:sp>
      <p:sp>
        <p:nvSpPr>
          <p:cNvPr id="3" name="Text 1"/>
          <p:cNvSpPr txBox="1"/>
          <p:nvPr/>
        </p:nvSpPr>
        <p:spPr>
          <a:xfrm>
            <a:off x="548640" y="1097280"/>
            <a:ext cx="7498080" cy="14630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Defence Logistics and Supply Chain Management System</a:t>
            </a:r>
            <a:endParaRPr lang="en-US" sz="3800" dirty="0"/>
          </a:p>
        </p:txBody>
      </p:sp>
      <p:sp>
        <p:nvSpPr>
          <p:cNvPr id="4" name="Text 2"/>
          <p:cNvSpPr txBox="1"/>
          <p:nvPr/>
        </p:nvSpPr>
        <p:spPr>
          <a:xfrm>
            <a:off x="548640" y="2697480"/>
            <a:ext cx="6949440" cy="731520"/>
          </a:xfrm>
          <a:prstGeom prst="rect">
            <a:avLst/>
          </a:prstGeom>
          <a:noFill/>
          <a:ln/>
        </p:spPr>
        <p:txBody>
          <a:bodyPr wrap="square" lIns="0" tIns="0" rIns="0" bIns="0" rtlCol="0" anchor="ctr"/>
          <a:lstStyle/>
          <a:p>
            <a:pPr indent="0" marL="0">
              <a:buNone/>
            </a:pPr>
            <a:r>
              <a:rPr lang="en-US" sz="1800" dirty="0">
                <a:solidFill>
                  <a:srgbClr val="C9D3BE"/>
                </a:solidFill>
              </a:rPr>
              <a:t>Object Oriented Programming mini project: a Java model that moves stock between bases, and a study of how well dispatch rules work</a:t>
            </a:r>
            <a:endParaRPr lang="en-US" sz="1800" dirty="0"/>
          </a:p>
        </p:txBody>
      </p:sp>
      <p:sp>
        <p:nvSpPr>
          <p:cNvPr id="5" name="Text 3"/>
          <p:cNvSpPr txBox="1"/>
          <p:nvPr/>
        </p:nvSpPr>
        <p:spPr>
          <a:xfrm>
            <a:off x="548640" y="3840480"/>
            <a:ext cx="8046720" cy="731520"/>
          </a:xfrm>
          <a:prstGeom prst="rect">
            <a:avLst/>
          </a:prstGeom>
          <a:noFill/>
          <a:ln/>
        </p:spPr>
        <p:txBody>
          <a:bodyPr wrap="square" lIns="0" tIns="0" rIns="0" bIns="0" rtlCol="0" anchor="ctr"/>
          <a:lstStyle/>
          <a:p>
            <a:pPr indent="0" marL="0">
              <a:buNone/>
            </a:pPr>
            <a:r>
              <a:rPr lang="en-US" sz="1400" dirty="0">
                <a:solidFill>
                  <a:srgbClr val="FFFFFF"/>
                </a:solidFill>
              </a:rPr>
              <a:t>Vedant Pathak (R045)   Dhairya Shah (R057)   Kanishak Thakran (R046)</a:t>
            </a:r>
            <a:endParaRPr lang="en-US" sz="1400" dirty="0"/>
          </a:p>
          <a:p>
            <a:pPr indent="0" marL="0">
              <a:buNone/>
            </a:pPr>
            <a:r>
              <a:rPr lang="en-US" sz="1400" dirty="0">
                <a:solidFill>
                  <a:srgbClr val="FFFFFF"/>
                </a:solidFill>
              </a:rPr>
              <a:t>Faculty: Dr. Sakshi Ranjan   |   SVKM's NMIMS MPSTME, Mumbai</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The problem: right stock, right place, in time</a:t>
            </a:r>
            <a:endParaRPr lang="en-US" sz="3000" dirty="0"/>
          </a:p>
        </p:txBody>
      </p:sp>
      <p:sp>
        <p:nvSpPr>
          <p:cNvPr id="4" name="Shape 1"/>
          <p:cNvSpPr/>
          <p:nvPr/>
        </p:nvSpPr>
        <p:spPr>
          <a:xfrm>
            <a:off x="457200" y="1143000"/>
            <a:ext cx="2606040" cy="3200400"/>
          </a:xfrm>
          <a:prstGeom prst="rect">
            <a:avLst/>
          </a:prstGeom>
          <a:solidFill>
            <a:srgbClr val="EEF1EA"/>
          </a:solidFill>
          <a:ln w="9525">
            <a:solidFill>
              <a:srgbClr val="D5DACC"/>
            </a:solidFill>
            <a:prstDash val="solid"/>
          </a:ln>
        </p:spPr>
      </p:sp>
      <p:sp>
        <p:nvSpPr>
          <p:cNvPr id="5" name="Text 2"/>
          <p:cNvSpPr txBox="1"/>
          <p:nvPr/>
        </p:nvSpPr>
        <p:spPr>
          <a:xfrm>
            <a:off x="594360" y="1234440"/>
            <a:ext cx="2331720" cy="365760"/>
          </a:xfrm>
          <a:prstGeom prst="rect">
            <a:avLst/>
          </a:prstGeom>
          <a:noFill/>
          <a:ln/>
        </p:spPr>
        <p:txBody>
          <a:bodyPr wrap="square" lIns="0" tIns="0" rIns="0" bIns="0" rtlCol="0" anchor="ctr"/>
          <a:lstStyle/>
          <a:p>
            <a:pPr indent="0" marL="0">
              <a:buNone/>
            </a:pPr>
            <a:r>
              <a:rPr lang="en-US" sz="1600" b="1" dirty="0">
                <a:solidFill>
                  <a:srgbClr val="2F3B2F"/>
                </a:solidFill>
                <a:latin typeface="Cambria" pitchFamily="34" charset="0"/>
                <a:ea typeface="Cambria" pitchFamily="34" charset="-122"/>
                <a:cs typeface="Cambria" pitchFamily="34" charset="-120"/>
              </a:rPr>
              <a:t>The situation</a:t>
            </a:r>
            <a:endParaRPr lang="en-US" sz="1600" dirty="0"/>
          </a:p>
        </p:txBody>
      </p:sp>
      <p:sp>
        <p:nvSpPr>
          <p:cNvPr id="6" name="Text 3"/>
          <p:cNvSpPr txBox="1"/>
          <p:nvPr/>
        </p:nvSpPr>
        <p:spPr>
          <a:xfrm>
            <a:off x="594360" y="1618488"/>
            <a:ext cx="2331720" cy="265176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Bases hold stock of fuel, food, medical, ammunition and spares.</a:t>
            </a:r>
            <a:endParaRPr lang="en-US" sz="1600" dirty="0"/>
          </a:p>
          <a:p>
            <a:pPr indent="0" marL="0">
              <a:spcAft>
                <a:spcPts val="600"/>
              </a:spcAft>
              <a:buNone/>
            </a:pPr>
            <a:endParaRPr lang="en-US" sz="1600" dirty="0"/>
          </a:p>
          <a:p>
            <a:pPr indent="0" marL="0">
              <a:spcAft>
                <a:spcPts val="600"/>
              </a:spcAft>
              <a:buNone/>
            </a:pPr>
            <a:r>
              <a:rPr lang="en-US" sz="1600" dirty="0">
                <a:solidFill>
                  <a:srgbClr val="14181C"/>
                </a:solidFill>
              </a:rPr>
              <a:t>Requests arrive with a priority from ROUTINE to CRITICAL.</a:t>
            </a:r>
            <a:endParaRPr lang="en-US" sz="1600" dirty="0"/>
          </a:p>
          <a:p>
            <a:pPr indent="0" marL="0">
              <a:spcAft>
                <a:spcPts val="600"/>
              </a:spcAft>
              <a:buNone/>
            </a:pPr>
            <a:endParaRPr lang="en-US" sz="1600" dirty="0"/>
          </a:p>
          <a:p>
            <a:pPr indent="0" marL="0">
              <a:spcAft>
                <a:spcPts val="600"/>
              </a:spcAft>
              <a:buNone/>
            </a:pPr>
            <a:r>
              <a:rPr lang="en-US" sz="1600" dirty="0">
                <a:solidFill>
                  <a:srgbClr val="14181C"/>
                </a:solidFill>
              </a:rPr>
              <a:t>A donor base and a vehicle must be chosen every time.</a:t>
            </a:r>
            <a:endParaRPr lang="en-US" sz="1600" dirty="0"/>
          </a:p>
        </p:txBody>
      </p:sp>
      <p:sp>
        <p:nvSpPr>
          <p:cNvPr id="7" name="Shape 4"/>
          <p:cNvSpPr/>
          <p:nvPr/>
        </p:nvSpPr>
        <p:spPr>
          <a:xfrm>
            <a:off x="3268980" y="1143000"/>
            <a:ext cx="2606040" cy="3200400"/>
          </a:xfrm>
          <a:prstGeom prst="rect">
            <a:avLst/>
          </a:prstGeom>
          <a:solidFill>
            <a:srgbClr val="EEF1EA"/>
          </a:solidFill>
          <a:ln w="9525">
            <a:solidFill>
              <a:srgbClr val="D5DACC"/>
            </a:solidFill>
            <a:prstDash val="solid"/>
          </a:ln>
        </p:spPr>
      </p:sp>
      <p:sp>
        <p:nvSpPr>
          <p:cNvPr id="8" name="Text 5"/>
          <p:cNvSpPr txBox="1"/>
          <p:nvPr/>
        </p:nvSpPr>
        <p:spPr>
          <a:xfrm>
            <a:off x="3406140" y="1234440"/>
            <a:ext cx="2331720" cy="365760"/>
          </a:xfrm>
          <a:prstGeom prst="rect">
            <a:avLst/>
          </a:prstGeom>
          <a:noFill/>
          <a:ln/>
        </p:spPr>
        <p:txBody>
          <a:bodyPr wrap="square" lIns="0" tIns="0" rIns="0" bIns="0" rtlCol="0" anchor="ctr"/>
          <a:lstStyle/>
          <a:p>
            <a:pPr indent="0" marL="0">
              <a:buNone/>
            </a:pPr>
            <a:r>
              <a:rPr lang="en-US" sz="1600" b="1" dirty="0">
                <a:solidFill>
                  <a:srgbClr val="5B7B4A"/>
                </a:solidFill>
                <a:latin typeface="Cambria" pitchFamily="34" charset="0"/>
                <a:ea typeface="Cambria" pitchFamily="34" charset="-122"/>
                <a:cs typeface="Cambria" pitchFamily="34" charset="-120"/>
              </a:rPr>
              <a:t>What we built</a:t>
            </a:r>
            <a:endParaRPr lang="en-US" sz="1600" dirty="0"/>
          </a:p>
        </p:txBody>
      </p:sp>
      <p:sp>
        <p:nvSpPr>
          <p:cNvPr id="9" name="Text 6"/>
          <p:cNvSpPr txBox="1"/>
          <p:nvPr/>
        </p:nvSpPr>
        <p:spPr>
          <a:xfrm>
            <a:off x="3406140" y="1618488"/>
            <a:ext cx="2331720" cy="265176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A Java system with 16 terminal commands: bases, inventory, requests, fleet, deliveries, reports.</a:t>
            </a:r>
            <a:endParaRPr lang="en-US" sz="1600" dirty="0"/>
          </a:p>
          <a:p>
            <a:pPr indent="0" marL="0">
              <a:spcAft>
                <a:spcPts val="600"/>
              </a:spcAft>
              <a:buNone/>
            </a:pPr>
            <a:endParaRPr lang="en-US" sz="1600" dirty="0"/>
          </a:p>
          <a:p>
            <a:pPr indent="0" marL="0">
              <a:spcAft>
                <a:spcPts val="600"/>
              </a:spcAft>
              <a:buNone/>
            </a:pPr>
            <a:r>
              <a:rPr lang="en-US" sz="1600" dirty="0">
                <a:solidFill>
                  <a:srgbClr val="14181C"/>
                </a:solidFill>
              </a:rPr>
              <a:t>A simulated clock that moves hour by hour.</a:t>
            </a:r>
            <a:endParaRPr lang="en-US" sz="1600" dirty="0"/>
          </a:p>
          <a:p>
            <a:pPr indent="0" marL="0">
              <a:spcAft>
                <a:spcPts val="600"/>
              </a:spcAft>
              <a:buNone/>
            </a:pPr>
            <a:endParaRPr lang="en-US" sz="1600" dirty="0"/>
          </a:p>
          <a:p>
            <a:pPr indent="0" marL="0">
              <a:spcAft>
                <a:spcPts val="600"/>
              </a:spcAft>
              <a:buNone/>
            </a:pPr>
            <a:r>
              <a:rPr lang="en-US" sz="1600" dirty="0">
                <a:solidFill>
                  <a:srgbClr val="14181C"/>
                </a:solidFill>
              </a:rPr>
              <a:t>Save and load to CSV files.</a:t>
            </a:r>
            <a:endParaRPr lang="en-US" sz="1600" dirty="0"/>
          </a:p>
        </p:txBody>
      </p:sp>
      <p:sp>
        <p:nvSpPr>
          <p:cNvPr id="10" name="Shape 7"/>
          <p:cNvSpPr/>
          <p:nvPr/>
        </p:nvSpPr>
        <p:spPr>
          <a:xfrm>
            <a:off x="6080760" y="1143000"/>
            <a:ext cx="2606040" cy="3200400"/>
          </a:xfrm>
          <a:prstGeom prst="rect">
            <a:avLst/>
          </a:prstGeom>
          <a:solidFill>
            <a:srgbClr val="EEF1EA"/>
          </a:solidFill>
          <a:ln w="9525">
            <a:solidFill>
              <a:srgbClr val="D5DACC"/>
            </a:solidFill>
            <a:prstDash val="solid"/>
          </a:ln>
        </p:spPr>
      </p:sp>
      <p:sp>
        <p:nvSpPr>
          <p:cNvPr id="11" name="Text 8"/>
          <p:cNvSpPr txBox="1"/>
          <p:nvPr/>
        </p:nvSpPr>
        <p:spPr>
          <a:xfrm>
            <a:off x="6217920" y="1234440"/>
            <a:ext cx="2331720" cy="365760"/>
          </a:xfrm>
          <a:prstGeom prst="rect">
            <a:avLst/>
          </a:prstGeom>
          <a:noFill/>
          <a:ln/>
        </p:spPr>
        <p:txBody>
          <a:bodyPr wrap="square" lIns="0" tIns="0" rIns="0" bIns="0" rtlCol="0" anchor="ctr"/>
          <a:lstStyle/>
          <a:p>
            <a:pPr indent="0" marL="0">
              <a:buNone/>
            </a:pPr>
            <a:r>
              <a:rPr lang="en-US" sz="1600" b="1" dirty="0">
                <a:solidFill>
                  <a:srgbClr val="3E6A8A"/>
                </a:solidFill>
                <a:latin typeface="Cambria" pitchFamily="34" charset="0"/>
                <a:ea typeface="Cambria" pitchFamily="34" charset="-122"/>
                <a:cs typeface="Cambria" pitchFamily="34" charset="-120"/>
              </a:rPr>
              <a:t>What we asked</a:t>
            </a:r>
            <a:endParaRPr lang="en-US" sz="1600" dirty="0"/>
          </a:p>
        </p:txBody>
      </p:sp>
      <p:sp>
        <p:nvSpPr>
          <p:cNvPr id="12" name="Text 9"/>
          <p:cNvSpPr txBox="1"/>
          <p:nvPr/>
        </p:nvSpPr>
        <p:spPr>
          <a:xfrm>
            <a:off x="6217920" y="1618488"/>
            <a:ext cx="2331720" cy="265176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Does the choice of donor base matter?</a:t>
            </a:r>
            <a:endParaRPr lang="en-US" sz="1600" dirty="0"/>
          </a:p>
          <a:p>
            <a:pPr indent="0" marL="0">
              <a:spcAft>
                <a:spcPts val="600"/>
              </a:spcAft>
              <a:buNone/>
            </a:pPr>
            <a:endParaRPr lang="en-US" sz="1600" dirty="0"/>
          </a:p>
          <a:p>
            <a:pPr indent="0" marL="0">
              <a:spcAft>
                <a:spcPts val="600"/>
              </a:spcAft>
              <a:buNone/>
            </a:pPr>
            <a:r>
              <a:rPr lang="en-US" sz="1600" dirty="0">
                <a:solidFill>
                  <a:srgbClr val="14181C"/>
                </a:solidFill>
              </a:rPr>
              <a:t>Does the choice of vehicle matter?</a:t>
            </a:r>
            <a:endParaRPr lang="en-US" sz="1600" dirty="0"/>
          </a:p>
          <a:p>
            <a:pPr indent="0" marL="0">
              <a:spcAft>
                <a:spcPts val="600"/>
              </a:spcAft>
              <a:buNone/>
            </a:pPr>
            <a:endParaRPr lang="en-US" sz="1600" dirty="0"/>
          </a:p>
          <a:p>
            <a:pPr indent="0" marL="0">
              <a:spcAft>
                <a:spcPts val="600"/>
              </a:spcAft>
              <a:buNone/>
            </a:pPr>
            <a:r>
              <a:rPr lang="en-US" sz="1600" dirty="0">
                <a:solidFill>
                  <a:srgbClr val="14181C"/>
                </a:solidFill>
              </a:rPr>
              <a:t>How does coordination compare with a random baseline, and does it scale?</a:t>
            </a:r>
            <a:endParaRPr lang="en-US" sz="1600" dirty="0"/>
          </a:p>
        </p:txBody>
      </p:sp>
      <p:sp>
        <p:nvSpPr>
          <p:cNvPr id="13" name="Text 1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Architecture: nine packages, one facade</a:t>
            </a:r>
            <a:endParaRPr lang="en-US" sz="3000" dirty="0"/>
          </a:p>
        </p:txBody>
      </p:sp>
      <p:sp>
        <p:nvSpPr>
          <p:cNvPr id="4" name="Shape 1"/>
          <p:cNvSpPr/>
          <p:nvPr/>
        </p:nvSpPr>
        <p:spPr>
          <a:xfrm>
            <a:off x="457200" y="1143000"/>
            <a:ext cx="2377440" cy="566928"/>
          </a:xfrm>
          <a:prstGeom prst="rect">
            <a:avLst/>
          </a:prstGeom>
          <a:solidFill>
            <a:srgbClr val="3E6A8A"/>
          </a:solidFill>
          <a:ln w="12700">
            <a:solidFill>
              <a:srgbClr val="3E6A8A"/>
            </a:solidFill>
            <a:prstDash val="solid"/>
          </a:ln>
        </p:spPr>
      </p:sp>
      <p:sp>
        <p:nvSpPr>
          <p:cNvPr id="5" name="Text 2"/>
          <p:cNvSpPr txBox="1"/>
          <p:nvPr/>
        </p:nvSpPr>
        <p:spPr>
          <a:xfrm>
            <a:off x="548640" y="1143000"/>
            <a:ext cx="2194560" cy="566928"/>
          </a:xfrm>
          <a:prstGeom prst="rect">
            <a:avLst/>
          </a:prstGeom>
          <a:noFill/>
          <a:ln/>
        </p:spPr>
        <p:txBody>
          <a:bodyPr wrap="square" lIns="0" tIns="0" rIns="0" bIns="0" rtlCol="0" anchor="ctr"/>
          <a:lstStyle/>
          <a:p>
            <a:pPr indent="0" marL="0">
              <a:buNone/>
            </a:pPr>
            <a:r>
              <a:rPr lang="en-US" sz="1500" b="1" dirty="0">
                <a:solidFill>
                  <a:srgbClr val="FFFFFF"/>
                </a:solidFill>
              </a:rPr>
              <a:t>ui</a:t>
            </a:r>
            <a:endParaRPr lang="en-US" sz="1500" dirty="0"/>
          </a:p>
        </p:txBody>
      </p:sp>
      <p:sp>
        <p:nvSpPr>
          <p:cNvPr id="6" name="Text 3"/>
          <p:cNvSpPr txBox="1"/>
          <p:nvPr/>
        </p:nvSpPr>
        <p:spPr>
          <a:xfrm>
            <a:off x="3017520" y="1143000"/>
            <a:ext cx="5669280" cy="566928"/>
          </a:xfrm>
          <a:prstGeom prst="rect">
            <a:avLst/>
          </a:prstGeom>
          <a:noFill/>
          <a:ln/>
        </p:spPr>
        <p:txBody>
          <a:bodyPr wrap="square" lIns="0" tIns="0" rIns="0" bIns="0" rtlCol="0" anchor="ctr"/>
          <a:lstStyle/>
          <a:p>
            <a:pPr indent="0" marL="0">
              <a:buNone/>
            </a:pPr>
            <a:r>
              <a:rPr lang="en-US" sz="1500" dirty="0">
                <a:solidFill>
                  <a:srgbClr val="14181C"/>
                </a:solidFill>
              </a:rPr>
              <a:t>Bloomberg-style terminal: 16 function codes</a:t>
            </a:r>
            <a:endParaRPr lang="en-US" sz="1500" dirty="0"/>
          </a:p>
        </p:txBody>
      </p:sp>
      <p:sp>
        <p:nvSpPr>
          <p:cNvPr id="7" name="Shape 4"/>
          <p:cNvSpPr/>
          <p:nvPr/>
        </p:nvSpPr>
        <p:spPr>
          <a:xfrm>
            <a:off x="457200" y="1828800"/>
            <a:ext cx="2377440" cy="566928"/>
          </a:xfrm>
          <a:prstGeom prst="rect">
            <a:avLst/>
          </a:prstGeom>
          <a:solidFill>
            <a:srgbClr val="5B7B4A"/>
          </a:solidFill>
          <a:ln w="12700">
            <a:solidFill>
              <a:srgbClr val="5B7B4A"/>
            </a:solidFill>
            <a:prstDash val="solid"/>
          </a:ln>
        </p:spPr>
      </p:sp>
      <p:sp>
        <p:nvSpPr>
          <p:cNvPr id="8" name="Text 5"/>
          <p:cNvSpPr txBox="1"/>
          <p:nvPr/>
        </p:nvSpPr>
        <p:spPr>
          <a:xfrm>
            <a:off x="548640" y="1828800"/>
            <a:ext cx="2194560" cy="566928"/>
          </a:xfrm>
          <a:prstGeom prst="rect">
            <a:avLst/>
          </a:prstGeom>
          <a:noFill/>
          <a:ln/>
        </p:spPr>
        <p:txBody>
          <a:bodyPr wrap="square" lIns="0" tIns="0" rIns="0" bIns="0" rtlCol="0" anchor="ctr"/>
          <a:lstStyle/>
          <a:p>
            <a:pPr indent="0" marL="0">
              <a:buNone/>
            </a:pPr>
            <a:r>
              <a:rPr lang="en-US" sz="1500" b="1" dirty="0">
                <a:solidFill>
                  <a:srgbClr val="FFFFFF"/>
                </a:solidFill>
              </a:rPr>
              <a:t>service</a:t>
            </a:r>
            <a:endParaRPr lang="en-US" sz="1500" dirty="0"/>
          </a:p>
        </p:txBody>
      </p:sp>
      <p:sp>
        <p:nvSpPr>
          <p:cNvPr id="9" name="Text 6"/>
          <p:cNvSpPr txBox="1"/>
          <p:nvPr/>
        </p:nvSpPr>
        <p:spPr>
          <a:xfrm>
            <a:off x="3017520" y="1828800"/>
            <a:ext cx="5669280" cy="566928"/>
          </a:xfrm>
          <a:prstGeom prst="rect">
            <a:avLst/>
          </a:prstGeom>
          <a:noFill/>
          <a:ln/>
        </p:spPr>
        <p:txBody>
          <a:bodyPr wrap="square" lIns="0" tIns="0" rIns="0" bIns="0" rtlCol="0" anchor="ctr"/>
          <a:lstStyle/>
          <a:p>
            <a:pPr indent="0" marL="0">
              <a:buNone/>
            </a:pPr>
            <a:r>
              <a:rPr lang="en-US" sz="1500" dirty="0">
                <a:solidFill>
                  <a:srgbClr val="14181C"/>
                </a:solidFill>
              </a:rPr>
              <a:t>LogisticsManager (Facade), Inventory, Request, Fleet, Delivery, Report</a:t>
            </a:r>
            <a:endParaRPr lang="en-US" sz="1500" dirty="0"/>
          </a:p>
        </p:txBody>
      </p:sp>
      <p:sp>
        <p:nvSpPr>
          <p:cNvPr id="10" name="Shape 7"/>
          <p:cNvSpPr/>
          <p:nvPr/>
        </p:nvSpPr>
        <p:spPr>
          <a:xfrm>
            <a:off x="457200" y="2514600"/>
            <a:ext cx="2377440" cy="566928"/>
          </a:xfrm>
          <a:prstGeom prst="rect">
            <a:avLst/>
          </a:prstGeom>
          <a:solidFill>
            <a:srgbClr val="E0A400"/>
          </a:solidFill>
          <a:ln w="12700">
            <a:solidFill>
              <a:srgbClr val="E0A400"/>
            </a:solidFill>
            <a:prstDash val="solid"/>
          </a:ln>
        </p:spPr>
      </p:sp>
      <p:sp>
        <p:nvSpPr>
          <p:cNvPr id="11" name="Text 8"/>
          <p:cNvSpPr txBox="1"/>
          <p:nvPr/>
        </p:nvSpPr>
        <p:spPr>
          <a:xfrm>
            <a:off x="548640" y="2514600"/>
            <a:ext cx="2194560" cy="566928"/>
          </a:xfrm>
          <a:prstGeom prst="rect">
            <a:avLst/>
          </a:prstGeom>
          <a:noFill/>
          <a:ln/>
        </p:spPr>
        <p:txBody>
          <a:bodyPr wrap="square" lIns="0" tIns="0" rIns="0" bIns="0" rtlCol="0" anchor="ctr"/>
          <a:lstStyle/>
          <a:p>
            <a:pPr indent="0" marL="0">
              <a:buNone/>
            </a:pPr>
            <a:r>
              <a:rPr lang="en-US" sz="1500" b="1" dirty="0">
                <a:solidFill>
                  <a:srgbClr val="14181C"/>
                </a:solidFill>
              </a:rPr>
              <a:t>strategy</a:t>
            </a:r>
            <a:endParaRPr lang="en-US" sz="1500" dirty="0"/>
          </a:p>
        </p:txBody>
      </p:sp>
      <p:sp>
        <p:nvSpPr>
          <p:cNvPr id="12" name="Text 9"/>
          <p:cNvSpPr txBox="1"/>
          <p:nvPr/>
        </p:nvSpPr>
        <p:spPr>
          <a:xfrm>
            <a:off x="3017520" y="2514600"/>
            <a:ext cx="5669280" cy="566928"/>
          </a:xfrm>
          <a:prstGeom prst="rect">
            <a:avLst/>
          </a:prstGeom>
          <a:noFill/>
          <a:ln/>
        </p:spPr>
        <p:txBody>
          <a:bodyPr wrap="square" lIns="0" tIns="0" rIns="0" bIns="0" rtlCol="0" anchor="ctr"/>
          <a:lstStyle/>
          <a:p>
            <a:pPr indent="0" marL="0">
              <a:buNone/>
            </a:pPr>
            <a:r>
              <a:rPr lang="en-US" sz="1500" dirty="0">
                <a:solidFill>
                  <a:srgbClr val="14181C"/>
                </a:solidFill>
              </a:rPr>
              <a:t>Donor and vehicle selection rules, swappable at run time</a:t>
            </a:r>
            <a:endParaRPr lang="en-US" sz="1500" dirty="0"/>
          </a:p>
        </p:txBody>
      </p:sp>
      <p:sp>
        <p:nvSpPr>
          <p:cNvPr id="13" name="Shape 10"/>
          <p:cNvSpPr/>
          <p:nvPr/>
        </p:nvSpPr>
        <p:spPr>
          <a:xfrm>
            <a:off x="457200" y="3200400"/>
            <a:ext cx="2377440" cy="566928"/>
          </a:xfrm>
          <a:prstGeom prst="rect">
            <a:avLst/>
          </a:prstGeom>
          <a:solidFill>
            <a:srgbClr val="2F3B2F"/>
          </a:solidFill>
          <a:ln w="12700">
            <a:solidFill>
              <a:srgbClr val="2F3B2F"/>
            </a:solidFill>
            <a:prstDash val="solid"/>
          </a:ln>
        </p:spPr>
      </p:sp>
      <p:sp>
        <p:nvSpPr>
          <p:cNvPr id="14" name="Text 11"/>
          <p:cNvSpPr txBox="1"/>
          <p:nvPr/>
        </p:nvSpPr>
        <p:spPr>
          <a:xfrm>
            <a:off x="548640" y="3200400"/>
            <a:ext cx="2194560" cy="566928"/>
          </a:xfrm>
          <a:prstGeom prst="rect">
            <a:avLst/>
          </a:prstGeom>
          <a:noFill/>
          <a:ln/>
        </p:spPr>
        <p:txBody>
          <a:bodyPr wrap="square" lIns="0" tIns="0" rIns="0" bIns="0" rtlCol="0" anchor="ctr"/>
          <a:lstStyle/>
          <a:p>
            <a:pPr indent="0" marL="0">
              <a:buNone/>
            </a:pPr>
            <a:r>
              <a:rPr lang="en-US" sz="1500" b="1" dirty="0">
                <a:solidFill>
                  <a:srgbClr val="FFFFFF"/>
                </a:solidFill>
              </a:rPr>
              <a:t>model + exception</a:t>
            </a:r>
            <a:endParaRPr lang="en-US" sz="1500" dirty="0"/>
          </a:p>
        </p:txBody>
      </p:sp>
      <p:sp>
        <p:nvSpPr>
          <p:cNvPr id="15" name="Text 12"/>
          <p:cNvSpPr txBox="1"/>
          <p:nvPr/>
        </p:nvSpPr>
        <p:spPr>
          <a:xfrm>
            <a:off x="3017520" y="3200400"/>
            <a:ext cx="5669280" cy="566928"/>
          </a:xfrm>
          <a:prstGeom prst="rect">
            <a:avLst/>
          </a:prstGeom>
          <a:noFill/>
          <a:ln/>
        </p:spPr>
        <p:txBody>
          <a:bodyPr wrap="square" lIns="0" tIns="0" rIns="0" bIns="0" rtlCol="0" anchor="ctr"/>
          <a:lstStyle/>
          <a:p>
            <a:pPr indent="0" marL="0">
              <a:buNone/>
            </a:pPr>
            <a:r>
              <a:rPr lang="en-US" sz="1500" dirty="0">
                <a:solidFill>
                  <a:srgbClr val="14181C"/>
                </a:solidFill>
              </a:rPr>
              <a:t>Base, Supply, Request, Delivery, Vehicle hierarchy; checked exceptions</a:t>
            </a:r>
            <a:endParaRPr lang="en-US" sz="1500" dirty="0"/>
          </a:p>
        </p:txBody>
      </p:sp>
      <p:sp>
        <p:nvSpPr>
          <p:cNvPr id="16" name="Shape 13"/>
          <p:cNvSpPr/>
          <p:nvPr/>
        </p:nvSpPr>
        <p:spPr>
          <a:xfrm>
            <a:off x="457200" y="3886200"/>
            <a:ext cx="2377440" cy="566928"/>
          </a:xfrm>
          <a:prstGeom prst="rect">
            <a:avLst/>
          </a:prstGeom>
          <a:solidFill>
            <a:srgbClr val="7A8590"/>
          </a:solidFill>
          <a:ln w="12700">
            <a:solidFill>
              <a:srgbClr val="7A8590"/>
            </a:solidFill>
            <a:prstDash val="solid"/>
          </a:ln>
        </p:spPr>
      </p:sp>
      <p:sp>
        <p:nvSpPr>
          <p:cNvPr id="17" name="Text 14"/>
          <p:cNvSpPr txBox="1"/>
          <p:nvPr/>
        </p:nvSpPr>
        <p:spPr>
          <a:xfrm>
            <a:off x="548640" y="3886200"/>
            <a:ext cx="2194560" cy="566928"/>
          </a:xfrm>
          <a:prstGeom prst="rect">
            <a:avLst/>
          </a:prstGeom>
          <a:noFill/>
          <a:ln/>
        </p:spPr>
        <p:txBody>
          <a:bodyPr wrap="square" lIns="0" tIns="0" rIns="0" bIns="0" rtlCol="0" anchor="ctr"/>
          <a:lstStyle/>
          <a:p>
            <a:pPr indent="0" marL="0">
              <a:buNone/>
            </a:pPr>
            <a:r>
              <a:rPr lang="en-US" sz="1500" b="1" dirty="0">
                <a:solidFill>
                  <a:srgbClr val="FFFFFF"/>
                </a:solidFill>
              </a:rPr>
              <a:t>persistence + util + sim</a:t>
            </a:r>
            <a:endParaRPr lang="en-US" sz="1500" dirty="0"/>
          </a:p>
        </p:txBody>
      </p:sp>
      <p:sp>
        <p:nvSpPr>
          <p:cNvPr id="18" name="Text 15"/>
          <p:cNvSpPr txBox="1"/>
          <p:nvPr/>
        </p:nvSpPr>
        <p:spPr>
          <a:xfrm>
            <a:off x="3017520" y="3886200"/>
            <a:ext cx="5669280" cy="566928"/>
          </a:xfrm>
          <a:prstGeom prst="rect">
            <a:avLst/>
          </a:prstGeom>
          <a:noFill/>
          <a:ln/>
        </p:spPr>
        <p:txBody>
          <a:bodyPr wrap="square" lIns="0" tIns="0" rIns="0" bIns="0" rtlCol="0" anchor="ctr"/>
          <a:lstStyle/>
          <a:p>
            <a:pPr indent="0" marL="0">
              <a:buNone/>
            </a:pPr>
            <a:r>
              <a:rPr lang="en-US" sz="1500" dirty="0">
                <a:solidFill>
                  <a:srgbClr val="14181C"/>
                </a:solidFill>
              </a:rPr>
              <a:t>CSV repositories, Registry&lt;T&gt;, SimClock, experiment runner</a:t>
            </a:r>
            <a:endParaRPr lang="en-US" sz="1500" dirty="0"/>
          </a:p>
        </p:txBody>
      </p:sp>
      <p:sp>
        <p:nvSpPr>
          <p:cNvPr id="19" name="Text 16"/>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Where each OOP idea shows up</a:t>
            </a:r>
            <a:endParaRPr lang="en-US" sz="3000" dirty="0"/>
          </a:p>
        </p:txBody>
      </p:sp>
      <p:sp>
        <p:nvSpPr>
          <p:cNvPr id="4" name="Shape 1"/>
          <p:cNvSpPr/>
          <p:nvPr/>
        </p:nvSpPr>
        <p:spPr>
          <a:xfrm>
            <a:off x="457200" y="1234440"/>
            <a:ext cx="457200" cy="457200"/>
          </a:xfrm>
          <a:prstGeom prst="ellipse">
            <a:avLst/>
          </a:prstGeom>
          <a:solidFill>
            <a:srgbClr val="2F3B2F"/>
          </a:solidFill>
          <a:ln w="12700">
            <a:solidFill>
              <a:srgbClr val="FFFFFF"/>
            </a:solidFill>
            <a:prstDash val="solid"/>
          </a:ln>
        </p:spPr>
      </p:sp>
      <p:sp>
        <p:nvSpPr>
          <p:cNvPr id="5"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3"/>
          <p:cNvSpPr txBox="1"/>
          <p:nvPr/>
        </p:nvSpPr>
        <p:spPr>
          <a:xfrm>
            <a:off x="1097280" y="1143000"/>
            <a:ext cx="3383280" cy="868680"/>
          </a:xfrm>
          <a:prstGeom prst="rect">
            <a:avLst/>
          </a:prstGeom>
          <a:noFill/>
          <a:ln/>
        </p:spPr>
        <p:txBody>
          <a:bodyPr wrap="square" lIns="0" tIns="0" rIns="0" bIns="0" rtlCol="0" anchor="t"/>
          <a:lstStyle/>
          <a:p>
            <a:pPr indent="0" marL="0">
              <a:buNone/>
            </a:pPr>
            <a:r>
              <a:rPr lang="en-US" sz="1700" b="1" dirty="0">
                <a:solidFill>
                  <a:srgbClr val="14181C"/>
                </a:solidFill>
                <a:latin typeface="Cambria" pitchFamily="34" charset="0"/>
                <a:ea typeface="Cambria" pitchFamily="34" charset="-122"/>
                <a:cs typeface="Cambria" pitchFamily="34" charset="-120"/>
              </a:rPr>
              <a:t>Encapsulation</a:t>
            </a:r>
            <a:endParaRPr lang="en-US" sz="1700" dirty="0"/>
          </a:p>
          <a:p>
            <a:pPr indent="0" marL="0">
              <a:buNone/>
            </a:pPr>
            <a:r>
              <a:rPr lang="en-US" sz="1400" dirty="0">
                <a:solidFill>
                  <a:srgbClr val="14181C"/>
                </a:solidFill>
              </a:rPr>
              <a:t>Private state, validated changes, enums for status</a:t>
            </a:r>
            <a:endParaRPr lang="en-US" sz="1700" dirty="0"/>
          </a:p>
        </p:txBody>
      </p:sp>
      <p:sp>
        <p:nvSpPr>
          <p:cNvPr id="7" name="Shape 4"/>
          <p:cNvSpPr/>
          <p:nvPr/>
        </p:nvSpPr>
        <p:spPr>
          <a:xfrm>
            <a:off x="4663440" y="1234440"/>
            <a:ext cx="457200" cy="457200"/>
          </a:xfrm>
          <a:prstGeom prst="ellipse">
            <a:avLst/>
          </a:prstGeom>
          <a:solidFill>
            <a:srgbClr val="5B7B4A"/>
          </a:solidFill>
          <a:ln w="12700">
            <a:solidFill>
              <a:srgbClr val="FFFFFF"/>
            </a:solidFill>
            <a:prstDash val="solid"/>
          </a:ln>
        </p:spPr>
      </p:sp>
      <p:sp>
        <p:nvSpPr>
          <p:cNvPr id="8" name="Text 5"/>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6"/>
          <p:cNvSpPr txBox="1"/>
          <p:nvPr/>
        </p:nvSpPr>
        <p:spPr>
          <a:xfrm>
            <a:off x="5303520" y="1143000"/>
            <a:ext cx="3383280" cy="868680"/>
          </a:xfrm>
          <a:prstGeom prst="rect">
            <a:avLst/>
          </a:prstGeom>
          <a:noFill/>
          <a:ln/>
        </p:spPr>
        <p:txBody>
          <a:bodyPr wrap="square" lIns="0" tIns="0" rIns="0" bIns="0" rtlCol="0" anchor="t"/>
          <a:lstStyle/>
          <a:p>
            <a:pPr indent="0" marL="0">
              <a:buNone/>
            </a:pPr>
            <a:r>
              <a:rPr lang="en-US" sz="1700" b="1" dirty="0">
                <a:solidFill>
                  <a:srgbClr val="14181C"/>
                </a:solidFill>
                <a:latin typeface="Cambria" pitchFamily="34" charset="0"/>
                <a:ea typeface="Cambria" pitchFamily="34" charset="-122"/>
                <a:cs typeface="Cambria" pitchFamily="34" charset="-120"/>
              </a:rPr>
              <a:t>Inheritance</a:t>
            </a:r>
            <a:endParaRPr lang="en-US" sz="1700" dirty="0"/>
          </a:p>
          <a:p>
            <a:pPr indent="0" marL="0">
              <a:buNone/>
            </a:pPr>
            <a:r>
              <a:rPr lang="en-US" sz="1400" dirty="0">
                <a:solidFill>
                  <a:srgbClr val="14181C"/>
                </a:solidFill>
              </a:rPr>
              <a:t>Abstract Vehicle: Truck, FuelTruck, MedicalVan, Helicopter</a:t>
            </a:r>
            <a:endParaRPr lang="en-US" sz="1700" dirty="0"/>
          </a:p>
        </p:txBody>
      </p:sp>
      <p:sp>
        <p:nvSpPr>
          <p:cNvPr id="10" name="Shape 7"/>
          <p:cNvSpPr/>
          <p:nvPr/>
        </p:nvSpPr>
        <p:spPr>
          <a:xfrm>
            <a:off x="457200" y="2331720"/>
            <a:ext cx="457200" cy="457200"/>
          </a:xfrm>
          <a:prstGeom prst="ellipse">
            <a:avLst/>
          </a:prstGeom>
          <a:solidFill>
            <a:srgbClr val="2F3B2F"/>
          </a:solidFill>
          <a:ln w="12700">
            <a:solidFill>
              <a:srgbClr val="FFFFFF"/>
            </a:solidFill>
            <a:prstDash val="solid"/>
          </a:ln>
        </p:spPr>
      </p:sp>
      <p:sp>
        <p:nvSpPr>
          <p:cNvPr id="11" name="Text 8"/>
          <p:cNvSpPr txBox="1"/>
          <p:nvPr/>
        </p:nvSpPr>
        <p:spPr>
          <a:xfrm>
            <a:off x="45720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9"/>
          <p:cNvSpPr txBox="1"/>
          <p:nvPr/>
        </p:nvSpPr>
        <p:spPr>
          <a:xfrm>
            <a:off x="1097280" y="2240280"/>
            <a:ext cx="3383280" cy="868680"/>
          </a:xfrm>
          <a:prstGeom prst="rect">
            <a:avLst/>
          </a:prstGeom>
          <a:noFill/>
          <a:ln/>
        </p:spPr>
        <p:txBody>
          <a:bodyPr wrap="square" lIns="0" tIns="0" rIns="0" bIns="0" rtlCol="0" anchor="t"/>
          <a:lstStyle/>
          <a:p>
            <a:pPr indent="0" marL="0">
              <a:buNone/>
            </a:pPr>
            <a:r>
              <a:rPr lang="en-US" sz="1700" b="1" dirty="0">
                <a:solidFill>
                  <a:srgbClr val="14181C"/>
                </a:solidFill>
                <a:latin typeface="Cambria" pitchFamily="34" charset="0"/>
                <a:ea typeface="Cambria" pitchFamily="34" charset="-122"/>
                <a:cs typeface="Cambria" pitchFamily="34" charset="-120"/>
              </a:rPr>
              <a:t>Polymorphism</a:t>
            </a:r>
            <a:endParaRPr lang="en-US" sz="1700" dirty="0"/>
          </a:p>
          <a:p>
            <a:pPr indent="0" marL="0">
              <a:buNone/>
            </a:pPr>
            <a:r>
              <a:rPr lang="en-US" sz="1400" dirty="0">
                <a:solidFill>
                  <a:srgbClr val="14181C"/>
                </a:solidFill>
              </a:rPr>
              <a:t>Each vehicle estimates its own travel time and what it can carry</a:t>
            </a:r>
            <a:endParaRPr lang="en-US" sz="1700" dirty="0"/>
          </a:p>
        </p:txBody>
      </p:sp>
      <p:sp>
        <p:nvSpPr>
          <p:cNvPr id="13" name="Shape 10"/>
          <p:cNvSpPr/>
          <p:nvPr/>
        </p:nvSpPr>
        <p:spPr>
          <a:xfrm>
            <a:off x="4663440" y="2331720"/>
            <a:ext cx="457200" cy="457200"/>
          </a:xfrm>
          <a:prstGeom prst="ellipse">
            <a:avLst/>
          </a:prstGeom>
          <a:solidFill>
            <a:srgbClr val="5B7B4A"/>
          </a:solidFill>
          <a:ln w="12700">
            <a:solidFill>
              <a:srgbClr val="FFFFFF"/>
            </a:solidFill>
            <a:prstDash val="solid"/>
          </a:ln>
        </p:spPr>
      </p:sp>
      <p:sp>
        <p:nvSpPr>
          <p:cNvPr id="14" name="Text 11"/>
          <p:cNvSpPr txBox="1"/>
          <p:nvPr/>
        </p:nvSpPr>
        <p:spPr>
          <a:xfrm>
            <a:off x="466344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5" name="Text 12"/>
          <p:cNvSpPr txBox="1"/>
          <p:nvPr/>
        </p:nvSpPr>
        <p:spPr>
          <a:xfrm>
            <a:off x="5303520" y="2240280"/>
            <a:ext cx="3383280" cy="868680"/>
          </a:xfrm>
          <a:prstGeom prst="rect">
            <a:avLst/>
          </a:prstGeom>
          <a:noFill/>
          <a:ln/>
        </p:spPr>
        <p:txBody>
          <a:bodyPr wrap="square" lIns="0" tIns="0" rIns="0" bIns="0" rtlCol="0" anchor="t"/>
          <a:lstStyle/>
          <a:p>
            <a:pPr indent="0" marL="0">
              <a:buNone/>
            </a:pPr>
            <a:r>
              <a:rPr lang="en-US" sz="1700" b="1" dirty="0">
                <a:solidFill>
                  <a:srgbClr val="14181C"/>
                </a:solidFill>
                <a:latin typeface="Cambria" pitchFamily="34" charset="0"/>
                <a:ea typeface="Cambria" pitchFamily="34" charset="-122"/>
                <a:cs typeface="Cambria" pitchFamily="34" charset="-120"/>
              </a:rPr>
              <a:t>Abstraction</a:t>
            </a:r>
            <a:endParaRPr lang="en-US" sz="1700" dirty="0"/>
          </a:p>
          <a:p>
            <a:pPr indent="0" marL="0">
              <a:buNone/>
            </a:pPr>
            <a:r>
              <a:rPr lang="en-US" sz="1400" dirty="0">
                <a:solidFill>
                  <a:srgbClr val="14181C"/>
                </a:solidFill>
              </a:rPr>
              <a:t>Interfaces Trackable, Deliverable, Persistable</a:t>
            </a:r>
            <a:endParaRPr lang="en-US" sz="1700" dirty="0"/>
          </a:p>
        </p:txBody>
      </p:sp>
      <p:sp>
        <p:nvSpPr>
          <p:cNvPr id="16" name="Shape 13"/>
          <p:cNvSpPr/>
          <p:nvPr/>
        </p:nvSpPr>
        <p:spPr>
          <a:xfrm>
            <a:off x="457200" y="3429000"/>
            <a:ext cx="457200" cy="457200"/>
          </a:xfrm>
          <a:prstGeom prst="ellipse">
            <a:avLst/>
          </a:prstGeom>
          <a:solidFill>
            <a:srgbClr val="2F3B2F"/>
          </a:solidFill>
          <a:ln w="12700">
            <a:solidFill>
              <a:srgbClr val="FFFFFF"/>
            </a:solidFill>
            <a:prstDash val="solid"/>
          </a:ln>
        </p:spPr>
      </p:sp>
      <p:sp>
        <p:nvSpPr>
          <p:cNvPr id="17" name="Text 14"/>
          <p:cNvSpPr txBox="1"/>
          <p:nvPr/>
        </p:nvSpPr>
        <p:spPr>
          <a:xfrm>
            <a:off x="45720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18" name="Text 15"/>
          <p:cNvSpPr txBox="1"/>
          <p:nvPr/>
        </p:nvSpPr>
        <p:spPr>
          <a:xfrm>
            <a:off x="1097280" y="3337560"/>
            <a:ext cx="3383280" cy="868680"/>
          </a:xfrm>
          <a:prstGeom prst="rect">
            <a:avLst/>
          </a:prstGeom>
          <a:noFill/>
          <a:ln/>
        </p:spPr>
        <p:txBody>
          <a:bodyPr wrap="square" lIns="0" tIns="0" rIns="0" bIns="0" rtlCol="0" anchor="t"/>
          <a:lstStyle/>
          <a:p>
            <a:pPr indent="0" marL="0">
              <a:buNone/>
            </a:pPr>
            <a:r>
              <a:rPr lang="en-US" sz="1700" b="1" dirty="0">
                <a:solidFill>
                  <a:srgbClr val="14181C"/>
                </a:solidFill>
                <a:latin typeface="Cambria" pitchFamily="34" charset="0"/>
                <a:ea typeface="Cambria" pitchFamily="34" charset="-122"/>
                <a:cs typeface="Cambria" pitchFamily="34" charset="-120"/>
              </a:rPr>
              <a:t>Generics</a:t>
            </a:r>
            <a:endParaRPr lang="en-US" sz="1700" dirty="0"/>
          </a:p>
          <a:p>
            <a:pPr indent="0" marL="0">
              <a:buNone/>
            </a:pPr>
            <a:r>
              <a:rPr lang="en-US" sz="1400" dirty="0">
                <a:solidFill>
                  <a:srgbClr val="14181C"/>
                </a:solidFill>
              </a:rPr>
              <a:t>Registry&lt;T&gt; and CsvRepository&lt;T extends Persistable&gt;</a:t>
            </a:r>
            <a:endParaRPr lang="en-US" sz="1700" dirty="0"/>
          </a:p>
        </p:txBody>
      </p:sp>
      <p:sp>
        <p:nvSpPr>
          <p:cNvPr id="19" name="Shape 16"/>
          <p:cNvSpPr/>
          <p:nvPr/>
        </p:nvSpPr>
        <p:spPr>
          <a:xfrm>
            <a:off x="4663440" y="3429000"/>
            <a:ext cx="457200" cy="457200"/>
          </a:xfrm>
          <a:prstGeom prst="ellipse">
            <a:avLst/>
          </a:prstGeom>
          <a:solidFill>
            <a:srgbClr val="5B7B4A"/>
          </a:solidFill>
          <a:ln w="12700">
            <a:solidFill>
              <a:srgbClr val="FFFFFF"/>
            </a:solidFill>
            <a:prstDash val="solid"/>
          </a:ln>
        </p:spPr>
      </p:sp>
      <p:sp>
        <p:nvSpPr>
          <p:cNvPr id="20" name="Text 17"/>
          <p:cNvSpPr txBox="1"/>
          <p:nvPr/>
        </p:nvSpPr>
        <p:spPr>
          <a:xfrm>
            <a:off x="466344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1" name="Text 18"/>
          <p:cNvSpPr txBox="1"/>
          <p:nvPr/>
        </p:nvSpPr>
        <p:spPr>
          <a:xfrm>
            <a:off x="5303520" y="3337560"/>
            <a:ext cx="3383280" cy="868680"/>
          </a:xfrm>
          <a:prstGeom prst="rect">
            <a:avLst/>
          </a:prstGeom>
          <a:noFill/>
          <a:ln/>
        </p:spPr>
        <p:txBody>
          <a:bodyPr wrap="square" lIns="0" tIns="0" rIns="0" bIns="0" rtlCol="0" anchor="t"/>
          <a:lstStyle/>
          <a:p>
            <a:pPr indent="0" marL="0">
              <a:buNone/>
            </a:pPr>
            <a:r>
              <a:rPr lang="en-US" sz="1700" b="1" dirty="0">
                <a:solidFill>
                  <a:srgbClr val="14181C"/>
                </a:solidFill>
                <a:latin typeface="Cambria" pitchFamily="34" charset="0"/>
                <a:ea typeface="Cambria" pitchFamily="34" charset="-122"/>
                <a:cs typeface="Cambria" pitchFamily="34" charset="-120"/>
              </a:rPr>
              <a:t>Exceptions</a:t>
            </a:r>
            <a:endParaRPr lang="en-US" sz="1700" dirty="0"/>
          </a:p>
          <a:p>
            <a:pPr indent="0" marL="0">
              <a:buNone/>
            </a:pPr>
            <a:r>
              <a:rPr lang="en-US" sz="1400" dirty="0">
                <a:solidFill>
                  <a:srgbClr val="14181C"/>
                </a:solidFill>
              </a:rPr>
              <a:t>Checked LogisticsException family, no silent failures</a:t>
            </a:r>
            <a:endParaRPr lang="en-US" sz="1700" dirty="0"/>
          </a:p>
        </p:txBody>
      </p:sp>
      <p:sp>
        <p:nvSpPr>
          <p:cNvPr id="22" name="Text 19"/>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UML class diagrams</a:t>
            </a:r>
            <a:endParaRPr lang="en-US" sz="3000" dirty="0"/>
          </a:p>
        </p:txBody>
      </p:sp>
      <p:pic>
        <p:nvPicPr>
          <p:cNvPr id="4" name="Image 0" descr="../docs/img/class_domain.png">    </p:cNvPr>
          <p:cNvPicPr>
            <a:picLocks noChangeAspect="1"/>
          </p:cNvPicPr>
          <p:nvPr/>
        </p:nvPicPr>
        <p:blipFill>
          <a:blip r:embed="rId1"/>
          <a:stretch>
            <a:fillRect/>
          </a:stretch>
        </p:blipFill>
        <p:spPr>
          <a:xfrm>
            <a:off x="457200" y="1051560"/>
            <a:ext cx="2781644" cy="3611880"/>
          </a:xfrm>
          <a:prstGeom prst="rect">
            <a:avLst/>
          </a:prstGeom>
        </p:spPr>
      </p:pic>
      <p:pic>
        <p:nvPicPr>
          <p:cNvPr id="5" name="Image 1" descr="../docs/img/class_services.png">    </p:cNvPr>
          <p:cNvPicPr>
            <a:picLocks noChangeAspect="1"/>
          </p:cNvPicPr>
          <p:nvPr/>
        </p:nvPicPr>
        <p:blipFill>
          <a:blip r:embed="rId2"/>
          <a:stretch>
            <a:fillRect/>
          </a:stretch>
        </p:blipFill>
        <p:spPr>
          <a:xfrm>
            <a:off x="3566160" y="1280160"/>
            <a:ext cx="4754880" cy="3620744"/>
          </a:xfrm>
          <a:prstGeom prst="rect">
            <a:avLst/>
          </a:prstGeom>
        </p:spPr>
      </p:pic>
      <p:sp>
        <p:nvSpPr>
          <p:cNvPr id="6" name="Text 1"/>
          <p:cNvSpPr txBox="1"/>
          <p:nvPr/>
        </p:nvSpPr>
        <p:spPr>
          <a:xfrm>
            <a:off x="457200" y="4663440"/>
            <a:ext cx="2743200" cy="228600"/>
          </a:xfrm>
          <a:prstGeom prst="rect">
            <a:avLst/>
          </a:prstGeom>
          <a:noFill/>
          <a:ln/>
        </p:spPr>
        <p:txBody>
          <a:bodyPr wrap="square" lIns="0" tIns="0" rIns="0" bIns="0" rtlCol="0" anchor="ctr"/>
          <a:lstStyle/>
          <a:p>
            <a:pPr indent="0" marL="0">
              <a:buNone/>
            </a:pPr>
            <a:r>
              <a:rPr lang="en-US" sz="1100" dirty="0">
                <a:solidFill>
                  <a:srgbClr val="5A646E"/>
                </a:solidFill>
              </a:rPr>
              <a:t>Domain model</a:t>
            </a:r>
            <a:endParaRPr lang="en-US" sz="1100" dirty="0"/>
          </a:p>
        </p:txBody>
      </p:sp>
      <p:sp>
        <p:nvSpPr>
          <p:cNvPr id="7" name="Text 2"/>
          <p:cNvSpPr txBox="1"/>
          <p:nvPr/>
        </p:nvSpPr>
        <p:spPr>
          <a:xfrm>
            <a:off x="3566160" y="4251960"/>
            <a:ext cx="4754880" cy="228600"/>
          </a:xfrm>
          <a:prstGeom prst="rect">
            <a:avLst/>
          </a:prstGeom>
          <a:noFill/>
          <a:ln/>
        </p:spPr>
        <p:txBody>
          <a:bodyPr wrap="square" lIns="0" tIns="0" rIns="0" bIns="0" rtlCol="0" anchor="ctr"/>
          <a:lstStyle/>
          <a:p>
            <a:pPr indent="0" marL="0">
              <a:buNone/>
            </a:pPr>
            <a:r>
              <a:rPr lang="en-US" sz="1100" dirty="0">
                <a:solidFill>
                  <a:srgbClr val="5A646E"/>
                </a:solidFill>
              </a:rPr>
              <a:t>Services, strategies, facade. More diagrams on GitHub</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Design choices that make the rules swappable</a:t>
            </a:r>
            <a:endParaRPr lang="en-US" sz="3000" dirty="0"/>
          </a:p>
        </p:txBody>
      </p:sp>
      <p:sp>
        <p:nvSpPr>
          <p:cNvPr id="4" name="Shape 1"/>
          <p:cNvSpPr/>
          <p:nvPr/>
        </p:nvSpPr>
        <p:spPr>
          <a:xfrm>
            <a:off x="457200" y="1143000"/>
            <a:ext cx="4023360" cy="1554480"/>
          </a:xfrm>
          <a:prstGeom prst="rect">
            <a:avLst/>
          </a:prstGeom>
          <a:solidFill>
            <a:srgbClr val="EEF1EA"/>
          </a:solidFill>
          <a:ln w="9525">
            <a:solidFill>
              <a:srgbClr val="D5DACC"/>
            </a:solidFill>
            <a:prstDash val="solid"/>
          </a:ln>
        </p:spPr>
      </p:sp>
      <p:sp>
        <p:nvSpPr>
          <p:cNvPr id="5" name="Text 2"/>
          <p:cNvSpPr txBox="1"/>
          <p:nvPr/>
        </p:nvSpPr>
        <p:spPr>
          <a:xfrm>
            <a:off x="594360" y="1234440"/>
            <a:ext cx="3749040" cy="365760"/>
          </a:xfrm>
          <a:prstGeom prst="rect">
            <a:avLst/>
          </a:prstGeom>
          <a:noFill/>
          <a:ln/>
        </p:spPr>
        <p:txBody>
          <a:bodyPr wrap="square" lIns="0" tIns="0" rIns="0" bIns="0" rtlCol="0" anchor="ctr"/>
          <a:lstStyle/>
          <a:p>
            <a:pPr indent="0" marL="0">
              <a:buNone/>
            </a:pPr>
            <a:r>
              <a:rPr lang="en-US" sz="1600" b="1" dirty="0">
                <a:solidFill>
                  <a:srgbClr val="5B7B4A"/>
                </a:solidFill>
                <a:latin typeface="Cambria" pitchFamily="34" charset="0"/>
                <a:ea typeface="Cambria" pitchFamily="34" charset="-122"/>
                <a:cs typeface="Cambria" pitchFamily="34" charset="-120"/>
              </a:rPr>
              <a:t>Strategy</a:t>
            </a:r>
            <a:endParaRPr lang="en-US" sz="1600" dirty="0"/>
          </a:p>
        </p:txBody>
      </p:sp>
      <p:sp>
        <p:nvSpPr>
          <p:cNvPr id="6" name="Text 3"/>
          <p:cNvSpPr txBox="1"/>
          <p:nvPr/>
        </p:nvSpPr>
        <p:spPr>
          <a:xfrm>
            <a:off x="594360" y="1618488"/>
            <a:ext cx="3749040" cy="100584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NEAREST, SURPLUS, BALANCED donors; SMALLEST, FASTEST vehicles; RANDOM as a baseline. Change with STRAT.</a:t>
            </a:r>
            <a:endParaRPr lang="en-US" sz="1600" dirty="0"/>
          </a:p>
        </p:txBody>
      </p:sp>
      <p:sp>
        <p:nvSpPr>
          <p:cNvPr id="7" name="Shape 4"/>
          <p:cNvSpPr/>
          <p:nvPr/>
        </p:nvSpPr>
        <p:spPr>
          <a:xfrm>
            <a:off x="4663440" y="1143000"/>
            <a:ext cx="4023360" cy="1554480"/>
          </a:xfrm>
          <a:prstGeom prst="rect">
            <a:avLst/>
          </a:prstGeom>
          <a:solidFill>
            <a:srgbClr val="EEF1EA"/>
          </a:solidFill>
          <a:ln w="9525">
            <a:solidFill>
              <a:srgbClr val="D5DACC"/>
            </a:solidFill>
            <a:prstDash val="solid"/>
          </a:ln>
        </p:spPr>
      </p:sp>
      <p:sp>
        <p:nvSpPr>
          <p:cNvPr id="8" name="Text 5"/>
          <p:cNvSpPr txBox="1"/>
          <p:nvPr/>
        </p:nvSpPr>
        <p:spPr>
          <a:xfrm>
            <a:off x="4800600" y="1234440"/>
            <a:ext cx="3749040" cy="365760"/>
          </a:xfrm>
          <a:prstGeom prst="rect">
            <a:avLst/>
          </a:prstGeom>
          <a:noFill/>
          <a:ln/>
        </p:spPr>
        <p:txBody>
          <a:bodyPr wrap="square" lIns="0" tIns="0" rIns="0" bIns="0" rtlCol="0" anchor="ctr"/>
          <a:lstStyle/>
          <a:p>
            <a:pPr indent="0" marL="0">
              <a:buNone/>
            </a:pPr>
            <a:r>
              <a:rPr lang="en-US" sz="1600" b="1" dirty="0">
                <a:solidFill>
                  <a:srgbClr val="3E6A8A"/>
                </a:solidFill>
                <a:latin typeface="Cambria" pitchFamily="34" charset="0"/>
                <a:ea typeface="Cambria" pitchFamily="34" charset="-122"/>
                <a:cs typeface="Cambria" pitchFamily="34" charset="-120"/>
              </a:rPr>
              <a:t>Facade</a:t>
            </a:r>
            <a:endParaRPr lang="en-US" sz="1600" dirty="0"/>
          </a:p>
        </p:txBody>
      </p:sp>
      <p:sp>
        <p:nvSpPr>
          <p:cNvPr id="9" name="Text 6"/>
          <p:cNvSpPr txBox="1"/>
          <p:nvPr/>
        </p:nvSpPr>
        <p:spPr>
          <a:xfrm>
            <a:off x="4800600" y="1618488"/>
            <a:ext cx="3749040" cy="100584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LogisticsManager is the single entry point for the UI, the scripts and the simulator.</a:t>
            </a:r>
            <a:endParaRPr lang="en-US" sz="1600" dirty="0"/>
          </a:p>
        </p:txBody>
      </p:sp>
      <p:sp>
        <p:nvSpPr>
          <p:cNvPr id="10" name="Shape 7"/>
          <p:cNvSpPr/>
          <p:nvPr/>
        </p:nvSpPr>
        <p:spPr>
          <a:xfrm>
            <a:off x="457200" y="2834640"/>
            <a:ext cx="4023360" cy="1554480"/>
          </a:xfrm>
          <a:prstGeom prst="rect">
            <a:avLst/>
          </a:prstGeom>
          <a:solidFill>
            <a:srgbClr val="EEF1EA"/>
          </a:solidFill>
          <a:ln w="9525">
            <a:solidFill>
              <a:srgbClr val="D5DACC"/>
            </a:solidFill>
            <a:prstDash val="solid"/>
          </a:ln>
        </p:spPr>
      </p:sp>
      <p:sp>
        <p:nvSpPr>
          <p:cNvPr id="11" name="Text 8"/>
          <p:cNvSpPr txBox="1"/>
          <p:nvPr/>
        </p:nvSpPr>
        <p:spPr>
          <a:xfrm>
            <a:off x="594360" y="2926080"/>
            <a:ext cx="3749040" cy="365760"/>
          </a:xfrm>
          <a:prstGeom prst="rect">
            <a:avLst/>
          </a:prstGeom>
          <a:noFill/>
          <a:ln/>
        </p:spPr>
        <p:txBody>
          <a:bodyPr wrap="square" lIns="0" tIns="0" rIns="0" bIns="0" rtlCol="0" anchor="ctr"/>
          <a:lstStyle/>
          <a:p>
            <a:pPr indent="0" marL="0">
              <a:buNone/>
            </a:pPr>
            <a:r>
              <a:rPr lang="en-US" sz="1600" b="1" dirty="0">
                <a:solidFill>
                  <a:srgbClr val="2F3B2F"/>
                </a:solidFill>
                <a:latin typeface="Cambria" pitchFamily="34" charset="0"/>
                <a:ea typeface="Cambria" pitchFamily="34" charset="-122"/>
                <a:cs typeface="Cambria" pitchFamily="34" charset="-120"/>
              </a:rPr>
              <a:t>Template Method</a:t>
            </a:r>
            <a:endParaRPr lang="en-US" sz="1600" dirty="0"/>
          </a:p>
        </p:txBody>
      </p:sp>
      <p:sp>
        <p:nvSpPr>
          <p:cNvPr id="12" name="Text 9"/>
          <p:cNvSpPr txBox="1"/>
          <p:nvPr/>
        </p:nvSpPr>
        <p:spPr>
          <a:xfrm>
            <a:off x="594360" y="3310128"/>
            <a:ext cx="3749040" cy="100584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Vehicle.estimateHours is fixed; each subclass supplies speed and what it may carry.</a:t>
            </a:r>
            <a:endParaRPr lang="en-US" sz="1600" dirty="0"/>
          </a:p>
        </p:txBody>
      </p:sp>
      <p:sp>
        <p:nvSpPr>
          <p:cNvPr id="13" name="Shape 10"/>
          <p:cNvSpPr/>
          <p:nvPr/>
        </p:nvSpPr>
        <p:spPr>
          <a:xfrm>
            <a:off x="4663440" y="2834640"/>
            <a:ext cx="4023360" cy="1554480"/>
          </a:xfrm>
          <a:prstGeom prst="rect">
            <a:avLst/>
          </a:prstGeom>
          <a:solidFill>
            <a:srgbClr val="EEF1EA"/>
          </a:solidFill>
          <a:ln w="9525">
            <a:solidFill>
              <a:srgbClr val="D5DACC"/>
            </a:solidFill>
            <a:prstDash val="solid"/>
          </a:ln>
        </p:spPr>
      </p:sp>
      <p:sp>
        <p:nvSpPr>
          <p:cNvPr id="14" name="Text 11"/>
          <p:cNvSpPr txBox="1"/>
          <p:nvPr/>
        </p:nvSpPr>
        <p:spPr>
          <a:xfrm>
            <a:off x="4800600" y="2926080"/>
            <a:ext cx="3749040" cy="365760"/>
          </a:xfrm>
          <a:prstGeom prst="rect">
            <a:avLst/>
          </a:prstGeom>
          <a:noFill/>
          <a:ln/>
        </p:spPr>
        <p:txBody>
          <a:bodyPr wrap="square" lIns="0" tIns="0" rIns="0" bIns="0" rtlCol="0" anchor="ctr"/>
          <a:lstStyle/>
          <a:p>
            <a:pPr indent="0" marL="0">
              <a:buNone/>
            </a:pPr>
            <a:r>
              <a:rPr lang="en-US" sz="1600" b="1" dirty="0">
                <a:solidFill>
                  <a:srgbClr val="B5543C"/>
                </a:solidFill>
                <a:latin typeface="Cambria" pitchFamily="34" charset="0"/>
                <a:ea typeface="Cambria" pitchFamily="34" charset="-122"/>
                <a:cs typeface="Cambria" pitchFamily="34" charset="-120"/>
              </a:rPr>
              <a:t>Domain safety rules</a:t>
            </a:r>
            <a:endParaRPr lang="en-US" sz="1600" dirty="0"/>
          </a:p>
        </p:txBody>
      </p:sp>
      <p:sp>
        <p:nvSpPr>
          <p:cNvPr id="15" name="Text 12"/>
          <p:cNvSpPr txBox="1"/>
          <p:nvPr/>
        </p:nvSpPr>
        <p:spPr>
          <a:xfrm>
            <a:off x="4800600" y="3310128"/>
            <a:ext cx="3749040" cy="100584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Donors keep their reorder level. Stock is reserved on plan, removed on dispatch, added on delivery, returned on failure.</a:t>
            </a:r>
            <a:endParaRPr lang="en-US" sz="1600" dirty="0"/>
          </a:p>
        </p:txBody>
      </p:sp>
      <p:sp>
        <p:nvSpPr>
          <p:cNvPr id="16" name="Text 13"/>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54864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Live demo</a:t>
            </a:r>
            <a:endParaRPr lang="en-US" sz="3400" dirty="0"/>
          </a:p>
        </p:txBody>
      </p:sp>
      <p:sp>
        <p:nvSpPr>
          <p:cNvPr id="3" name="Text 1"/>
          <p:cNvSpPr txBox="1"/>
          <p:nvPr/>
        </p:nvSpPr>
        <p:spPr>
          <a:xfrm>
            <a:off x="548640" y="1005840"/>
            <a:ext cx="7315200" cy="365760"/>
          </a:xfrm>
          <a:prstGeom prst="rect">
            <a:avLst/>
          </a:prstGeom>
          <a:noFill/>
          <a:ln/>
        </p:spPr>
        <p:txBody>
          <a:bodyPr wrap="square" lIns="0" tIns="0" rIns="0" bIns="0" rtlCol="0" anchor="ctr"/>
          <a:lstStyle/>
          <a:p>
            <a:pPr indent="0" marL="0">
              <a:buNone/>
            </a:pPr>
            <a:r>
              <a:rPr lang="en-US" sz="1800" dirty="0">
                <a:solidFill>
                  <a:srgbClr val="E0A400"/>
                </a:solidFill>
              </a:rPr>
              <a:t>Scenario: Pune needs 200 medical kits, urgently</a:t>
            </a:r>
            <a:endParaRPr lang="en-US" sz="1800" dirty="0"/>
          </a:p>
        </p:txBody>
      </p:sp>
      <p:sp>
        <p:nvSpPr>
          <p:cNvPr id="4" name="Text 2"/>
          <p:cNvSpPr txBox="1"/>
          <p:nvPr/>
        </p:nvSpPr>
        <p:spPr>
          <a:xfrm>
            <a:off x="548640" y="1645920"/>
            <a:ext cx="411480" cy="411480"/>
          </a:xfrm>
          <a:prstGeom prst="rect">
            <a:avLst/>
          </a:prstGeom>
          <a:solidFill>
            <a:srgbClr val="E0A400"/>
          </a:solidFill>
          <a:ln/>
        </p:spPr>
        <p:txBody>
          <a:bodyPr wrap="square" lIns="0" tIns="0" rIns="0" bIns="0" rtlCol="0" anchor="ctr"/>
          <a:lstStyle/>
          <a:p>
            <a:pPr algn="ctr" indent="0" marL="0">
              <a:buNone/>
            </a:pPr>
            <a:r>
              <a:rPr lang="en-US" sz="1600" b="1" dirty="0">
                <a:solidFill>
                  <a:srgbClr val="14181C"/>
                </a:solidFill>
              </a:rPr>
              <a:t>1</a:t>
            </a:r>
            <a:endParaRPr lang="en-US" sz="1600" dirty="0"/>
          </a:p>
        </p:txBody>
      </p:sp>
      <p:sp>
        <p:nvSpPr>
          <p:cNvPr id="5" name="Text 3"/>
          <p:cNvSpPr txBox="1"/>
          <p:nvPr/>
        </p:nvSpPr>
        <p:spPr>
          <a:xfrm>
            <a:off x="1188720" y="1645920"/>
            <a:ext cx="7315200" cy="41148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run.bat   (opens the example network; --demo auto-plays it)</a:t>
            </a:r>
            <a:endParaRPr lang="en-US" sz="1600" dirty="0"/>
          </a:p>
        </p:txBody>
      </p:sp>
      <p:sp>
        <p:nvSpPr>
          <p:cNvPr id="6" name="Text 4"/>
          <p:cNvSpPr txBox="1"/>
          <p:nvPr/>
        </p:nvSpPr>
        <p:spPr>
          <a:xfrm>
            <a:off x="548640" y="2231136"/>
            <a:ext cx="411480" cy="411480"/>
          </a:xfrm>
          <a:prstGeom prst="rect">
            <a:avLst/>
          </a:prstGeom>
          <a:solidFill>
            <a:srgbClr val="E0A400"/>
          </a:solidFill>
          <a:ln/>
        </p:spPr>
        <p:txBody>
          <a:bodyPr wrap="square" lIns="0" tIns="0" rIns="0" bIns="0" rtlCol="0" anchor="ctr"/>
          <a:lstStyle/>
          <a:p>
            <a:pPr algn="ctr" indent="0" marL="0">
              <a:buNone/>
            </a:pPr>
            <a:r>
              <a:rPr lang="en-US" sz="1600" b="1" dirty="0">
                <a:solidFill>
                  <a:srgbClr val="14181C"/>
                </a:solidFill>
              </a:rPr>
              <a:t>2</a:t>
            </a:r>
            <a:endParaRPr lang="en-US" sz="1600" dirty="0"/>
          </a:p>
        </p:txBody>
      </p:sp>
      <p:sp>
        <p:nvSpPr>
          <p:cNvPr id="7" name="Text 5"/>
          <p:cNvSpPr txBox="1"/>
          <p:nvPr/>
        </p:nvSpPr>
        <p:spPr>
          <a:xfrm>
            <a:off x="1188720" y="2231136"/>
            <a:ext cx="7315200" cy="41148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REQ NEW PUN MED-KIT 200 URGENT   then   REQ APPROVE</a:t>
            </a:r>
            <a:endParaRPr lang="en-US" sz="1600" dirty="0"/>
          </a:p>
        </p:txBody>
      </p:sp>
      <p:sp>
        <p:nvSpPr>
          <p:cNvPr id="8" name="Text 6"/>
          <p:cNvSpPr txBox="1"/>
          <p:nvPr/>
        </p:nvSpPr>
        <p:spPr>
          <a:xfrm>
            <a:off x="548640" y="2816352"/>
            <a:ext cx="411480" cy="411480"/>
          </a:xfrm>
          <a:prstGeom prst="rect">
            <a:avLst/>
          </a:prstGeom>
          <a:solidFill>
            <a:srgbClr val="E0A400"/>
          </a:solidFill>
          <a:ln/>
        </p:spPr>
        <p:txBody>
          <a:bodyPr wrap="square" lIns="0" tIns="0" rIns="0" bIns="0" rtlCol="0" anchor="ctr"/>
          <a:lstStyle/>
          <a:p>
            <a:pPr algn="ctr" indent="0" marL="0">
              <a:buNone/>
            </a:pPr>
            <a:r>
              <a:rPr lang="en-US" sz="1600" b="1" dirty="0">
                <a:solidFill>
                  <a:srgbClr val="14181C"/>
                </a:solidFill>
              </a:rPr>
              <a:t>3</a:t>
            </a:r>
            <a:endParaRPr lang="en-US" sz="1600" dirty="0"/>
          </a:p>
        </p:txBody>
      </p:sp>
      <p:sp>
        <p:nvSpPr>
          <p:cNvPr id="9" name="Text 7"/>
          <p:cNvSpPr txBox="1"/>
          <p:nvPr/>
        </p:nvSpPr>
        <p:spPr>
          <a:xfrm>
            <a:off x="1188720" y="2816352"/>
            <a:ext cx="7315200" cy="41148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REQ FULFIL   (donor and vehicle chosen by the strategies)</a:t>
            </a:r>
            <a:endParaRPr lang="en-US" sz="1600" dirty="0"/>
          </a:p>
        </p:txBody>
      </p:sp>
      <p:sp>
        <p:nvSpPr>
          <p:cNvPr id="10" name="Text 8"/>
          <p:cNvSpPr txBox="1"/>
          <p:nvPr/>
        </p:nvSpPr>
        <p:spPr>
          <a:xfrm>
            <a:off x="548640" y="3401568"/>
            <a:ext cx="411480" cy="411480"/>
          </a:xfrm>
          <a:prstGeom prst="rect">
            <a:avLst/>
          </a:prstGeom>
          <a:solidFill>
            <a:srgbClr val="E0A400"/>
          </a:solidFill>
          <a:ln/>
        </p:spPr>
        <p:txBody>
          <a:bodyPr wrap="square" lIns="0" tIns="0" rIns="0" bIns="0" rtlCol="0" anchor="ctr"/>
          <a:lstStyle/>
          <a:p>
            <a:pPr algn="ctr" indent="0" marL="0">
              <a:buNone/>
            </a:pPr>
            <a:r>
              <a:rPr lang="en-US" sz="1600" b="1" dirty="0">
                <a:solidFill>
                  <a:srgbClr val="14181C"/>
                </a:solidFill>
              </a:rPr>
              <a:t>4</a:t>
            </a:r>
            <a:endParaRPr lang="en-US" sz="1600" dirty="0"/>
          </a:p>
        </p:txBody>
      </p:sp>
      <p:sp>
        <p:nvSpPr>
          <p:cNvPr id="11" name="Text 9"/>
          <p:cNvSpPr txBox="1"/>
          <p:nvPr/>
        </p:nvSpPr>
        <p:spPr>
          <a:xfrm>
            <a:off x="1188720" y="3401568"/>
            <a:ext cx="7315200" cy="41148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DLV DISPATCH   then   TICK 12   (time moves only on TICK)</a:t>
            </a:r>
            <a:endParaRPr lang="en-US" sz="1600" dirty="0"/>
          </a:p>
        </p:txBody>
      </p:sp>
      <p:sp>
        <p:nvSpPr>
          <p:cNvPr id="12" name="Text 10"/>
          <p:cNvSpPr txBox="1"/>
          <p:nvPr/>
        </p:nvSpPr>
        <p:spPr>
          <a:xfrm>
            <a:off x="548640" y="3986784"/>
            <a:ext cx="411480" cy="411480"/>
          </a:xfrm>
          <a:prstGeom prst="rect">
            <a:avLst/>
          </a:prstGeom>
          <a:solidFill>
            <a:srgbClr val="E0A400"/>
          </a:solidFill>
          <a:ln/>
        </p:spPr>
        <p:txBody>
          <a:bodyPr wrap="square" lIns="0" tIns="0" rIns="0" bIns="0" rtlCol="0" anchor="ctr"/>
          <a:lstStyle/>
          <a:p>
            <a:pPr algn="ctr" indent="0" marL="0">
              <a:buNone/>
            </a:pPr>
            <a:r>
              <a:rPr lang="en-US" sz="1600" b="1" dirty="0">
                <a:solidFill>
                  <a:srgbClr val="14181C"/>
                </a:solidFill>
              </a:rPr>
              <a:t>5</a:t>
            </a:r>
            <a:endParaRPr lang="en-US" sz="1600" dirty="0"/>
          </a:p>
        </p:txBody>
      </p:sp>
      <p:sp>
        <p:nvSpPr>
          <p:cNvPr id="13" name="Text 11"/>
          <p:cNvSpPr txBox="1"/>
          <p:nvPr/>
        </p:nvSpPr>
        <p:spPr>
          <a:xfrm>
            <a:off x="1188720" y="3986784"/>
            <a:ext cx="7315200" cy="41148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RPT KPI   then   STRAT SRC BALANCED   (swap the rule)</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How we tested the dispatch rules</a:t>
            </a:r>
            <a:endParaRPr lang="en-US" sz="3000" dirty="0"/>
          </a:p>
        </p:txBody>
      </p:sp>
      <p:sp>
        <p:nvSpPr>
          <p:cNvPr id="4" name="Text 1"/>
          <p:cNvSpPr txBox="1"/>
          <p:nvPr/>
        </p:nvSpPr>
        <p:spPr>
          <a:xfrm>
            <a:off x="457200" y="1280160"/>
            <a:ext cx="1920240" cy="822960"/>
          </a:xfrm>
          <a:prstGeom prst="rect">
            <a:avLst/>
          </a:prstGeom>
          <a:noFill/>
          <a:ln/>
        </p:spPr>
        <p:txBody>
          <a:bodyPr wrap="square" lIns="0" tIns="0" rIns="0" bIns="0" rtlCol="0" anchor="ctr"/>
          <a:lstStyle/>
          <a:p>
            <a:pPr indent="0" marL="0">
              <a:buNone/>
            </a:pPr>
            <a:r>
              <a:rPr lang="en-US" sz="4000" b="1" dirty="0">
                <a:solidFill>
                  <a:srgbClr val="2F3B2F"/>
                </a:solidFill>
                <a:latin typeface="Cambria" pitchFamily="34" charset="0"/>
                <a:ea typeface="Cambria" pitchFamily="34" charset="-122"/>
                <a:cs typeface="Cambria" pitchFamily="34" charset="-120"/>
              </a:rPr>
              <a:t>1,080</a:t>
            </a:r>
            <a:endParaRPr lang="en-US" sz="4000" dirty="0"/>
          </a:p>
        </p:txBody>
      </p:sp>
      <p:sp>
        <p:nvSpPr>
          <p:cNvPr id="5" name="Text 2"/>
          <p:cNvSpPr txBox="1"/>
          <p:nvPr/>
        </p:nvSpPr>
        <p:spPr>
          <a:xfrm>
            <a:off x="457200" y="2103120"/>
            <a:ext cx="1920240" cy="548640"/>
          </a:xfrm>
          <a:prstGeom prst="rect">
            <a:avLst/>
          </a:prstGeom>
          <a:noFill/>
          <a:ln/>
        </p:spPr>
        <p:txBody>
          <a:bodyPr wrap="square" lIns="0" tIns="0" rIns="0" bIns="0" rtlCol="0" anchor="t"/>
          <a:lstStyle/>
          <a:p>
            <a:pPr indent="0" marL="0">
              <a:buNone/>
            </a:pPr>
            <a:r>
              <a:rPr lang="en-US" sz="1400" dirty="0">
                <a:solidFill>
                  <a:srgbClr val="5A646E"/>
                </a:solidFill>
              </a:rPr>
              <a:t>simulation runs</a:t>
            </a:r>
            <a:endParaRPr lang="en-US" sz="1400" dirty="0"/>
          </a:p>
        </p:txBody>
      </p:sp>
      <p:sp>
        <p:nvSpPr>
          <p:cNvPr id="6" name="Text 3"/>
          <p:cNvSpPr txBox="1"/>
          <p:nvPr/>
        </p:nvSpPr>
        <p:spPr>
          <a:xfrm>
            <a:off x="2560320" y="1280160"/>
            <a:ext cx="1920240" cy="822960"/>
          </a:xfrm>
          <a:prstGeom prst="rect">
            <a:avLst/>
          </a:prstGeom>
          <a:noFill/>
          <a:ln/>
        </p:spPr>
        <p:txBody>
          <a:bodyPr wrap="square" lIns="0" tIns="0" rIns="0" bIns="0" rtlCol="0" anchor="ctr"/>
          <a:lstStyle/>
          <a:p>
            <a:pPr indent="0" marL="0">
              <a:buNone/>
            </a:pPr>
            <a:r>
              <a:rPr lang="en-US" sz="4000" b="1" dirty="0">
                <a:solidFill>
                  <a:srgbClr val="5B7B4A"/>
                </a:solidFill>
                <a:latin typeface="Cambria" pitchFamily="34" charset="0"/>
                <a:ea typeface="Cambria" pitchFamily="34" charset="-122"/>
                <a:cs typeface="Cambria" pitchFamily="34" charset="-120"/>
              </a:rPr>
              <a:t>3 x 30</a:t>
            </a:r>
            <a:endParaRPr lang="en-US" sz="4000" dirty="0"/>
          </a:p>
        </p:txBody>
      </p:sp>
      <p:sp>
        <p:nvSpPr>
          <p:cNvPr id="7" name="Text 4"/>
          <p:cNvSpPr txBox="1"/>
          <p:nvPr/>
        </p:nvSpPr>
        <p:spPr>
          <a:xfrm>
            <a:off x="2560320" y="2103120"/>
            <a:ext cx="1920240" cy="548640"/>
          </a:xfrm>
          <a:prstGeom prst="rect">
            <a:avLst/>
          </a:prstGeom>
          <a:noFill/>
          <a:ln/>
        </p:spPr>
        <p:txBody>
          <a:bodyPr wrap="square" lIns="0" tIns="0" rIns="0" bIns="0" rtlCol="0" anchor="t"/>
          <a:lstStyle/>
          <a:p>
            <a:pPr indent="0" marL="0">
              <a:buNone/>
            </a:pPr>
            <a:r>
              <a:rPr lang="en-US" sz="1400" dirty="0">
                <a:solidFill>
                  <a:srgbClr val="5A646E"/>
                </a:solidFill>
              </a:rPr>
              <a:t>sizes x datasets</a:t>
            </a:r>
            <a:endParaRPr lang="en-US" sz="1400" dirty="0"/>
          </a:p>
        </p:txBody>
      </p:sp>
      <p:sp>
        <p:nvSpPr>
          <p:cNvPr id="8" name="Text 5"/>
          <p:cNvSpPr txBox="1"/>
          <p:nvPr/>
        </p:nvSpPr>
        <p:spPr>
          <a:xfrm>
            <a:off x="4663440" y="1280160"/>
            <a:ext cx="1920240" cy="822960"/>
          </a:xfrm>
          <a:prstGeom prst="rect">
            <a:avLst/>
          </a:prstGeom>
          <a:noFill/>
          <a:ln/>
        </p:spPr>
        <p:txBody>
          <a:bodyPr wrap="square" lIns="0" tIns="0" rIns="0" bIns="0" rtlCol="0" anchor="ctr"/>
          <a:lstStyle/>
          <a:p>
            <a:pPr indent="0" marL="0">
              <a:buNone/>
            </a:pPr>
            <a:r>
              <a:rPr lang="en-US" sz="4000" b="1" dirty="0">
                <a:solidFill>
                  <a:srgbClr val="2F3B2F"/>
                </a:solidFill>
                <a:latin typeface="Cambria" pitchFamily="34" charset="0"/>
                <a:ea typeface="Cambria" pitchFamily="34" charset="-122"/>
                <a:cs typeface="Cambria" pitchFamily="34" charset="-120"/>
              </a:rPr>
              <a:t>12</a:t>
            </a:r>
            <a:endParaRPr lang="en-US" sz="4000" dirty="0"/>
          </a:p>
        </p:txBody>
      </p:sp>
      <p:sp>
        <p:nvSpPr>
          <p:cNvPr id="9" name="Text 6"/>
          <p:cNvSpPr txBox="1"/>
          <p:nvPr/>
        </p:nvSpPr>
        <p:spPr>
          <a:xfrm>
            <a:off x="4663440" y="2103120"/>
            <a:ext cx="1920240" cy="548640"/>
          </a:xfrm>
          <a:prstGeom prst="rect">
            <a:avLst/>
          </a:prstGeom>
          <a:noFill/>
          <a:ln/>
        </p:spPr>
        <p:txBody>
          <a:bodyPr wrap="square" lIns="0" tIns="0" rIns="0" bIns="0" rtlCol="0" anchor="t"/>
          <a:lstStyle/>
          <a:p>
            <a:pPr indent="0" marL="0">
              <a:buNone/>
            </a:pPr>
            <a:r>
              <a:rPr lang="en-US" sz="1400" dirty="0">
                <a:solidFill>
                  <a:srgbClr val="5A646E"/>
                </a:solidFill>
              </a:rPr>
              <a:t>strategy pairs</a:t>
            </a:r>
            <a:endParaRPr lang="en-US" sz="1400" dirty="0"/>
          </a:p>
        </p:txBody>
      </p:sp>
      <p:sp>
        <p:nvSpPr>
          <p:cNvPr id="10" name="Text 7"/>
          <p:cNvSpPr txBox="1"/>
          <p:nvPr/>
        </p:nvSpPr>
        <p:spPr>
          <a:xfrm>
            <a:off x="6766560" y="1280160"/>
            <a:ext cx="1920240" cy="822960"/>
          </a:xfrm>
          <a:prstGeom prst="rect">
            <a:avLst/>
          </a:prstGeom>
          <a:noFill/>
          <a:ln/>
        </p:spPr>
        <p:txBody>
          <a:bodyPr wrap="square" lIns="0" tIns="0" rIns="0" bIns="0" rtlCol="0" anchor="ctr"/>
          <a:lstStyle/>
          <a:p>
            <a:pPr indent="0" marL="0">
              <a:buNone/>
            </a:pPr>
            <a:r>
              <a:rPr lang="en-US" sz="4000" b="1" dirty="0">
                <a:solidFill>
                  <a:srgbClr val="5B7B4A"/>
                </a:solidFill>
                <a:latin typeface="Cambria" pitchFamily="34" charset="0"/>
                <a:ea typeface="Cambria" pitchFamily="34" charset="-122"/>
                <a:cs typeface="Cambria" pitchFamily="34" charset="-120"/>
              </a:rPr>
              <a:t>74 / 93</a:t>
            </a:r>
            <a:endParaRPr lang="en-US" sz="4000" dirty="0"/>
          </a:p>
        </p:txBody>
      </p:sp>
      <p:sp>
        <p:nvSpPr>
          <p:cNvPr id="11" name="Text 8"/>
          <p:cNvSpPr txBox="1"/>
          <p:nvPr/>
        </p:nvSpPr>
        <p:spPr>
          <a:xfrm>
            <a:off x="6766560" y="2103120"/>
            <a:ext cx="1920240" cy="548640"/>
          </a:xfrm>
          <a:prstGeom prst="rect">
            <a:avLst/>
          </a:prstGeom>
          <a:noFill/>
          <a:ln/>
        </p:spPr>
        <p:txBody>
          <a:bodyPr wrap="square" lIns="0" tIns="0" rIns="0" bIns="0" rtlCol="0" anchor="t"/>
          <a:lstStyle/>
          <a:p>
            <a:pPr indent="0" marL="0">
              <a:buNone/>
            </a:pPr>
            <a:r>
              <a:rPr lang="en-US" sz="1400" dirty="0">
                <a:solidFill>
                  <a:srgbClr val="5A646E"/>
                </a:solidFill>
              </a:rPr>
              <a:t>tests significant after correction</a:t>
            </a:r>
            <a:endParaRPr lang="en-US" sz="1400" dirty="0"/>
          </a:p>
        </p:txBody>
      </p:sp>
      <p:sp>
        <p:nvSpPr>
          <p:cNvPr id="12" name="Text 9"/>
          <p:cNvSpPr txBox="1"/>
          <p:nvPr/>
        </p:nvSpPr>
        <p:spPr>
          <a:xfrm>
            <a:off x="457200" y="3108960"/>
            <a:ext cx="8229600" cy="1188720"/>
          </a:xfrm>
          <a:prstGeom prst="rect">
            <a:avLst/>
          </a:prstGeom>
          <a:noFill/>
          <a:ln/>
        </p:spPr>
        <p:txBody>
          <a:bodyPr wrap="square" lIns="0" tIns="0" rIns="0" bIns="0" rtlCol="0" anchor="t"/>
          <a:lstStyle/>
          <a:p>
            <a:pPr indent="0" marL="0">
              <a:spcAft>
                <a:spcPts val="800"/>
              </a:spcAft>
              <a:buNone/>
            </a:pPr>
            <a:r>
              <a:rPr lang="en-US" sz="1500" b="1" dirty="0">
                <a:solidFill>
                  <a:srgbClr val="14181C"/>
                </a:solidFill>
              </a:rPr>
              <a:t>Metrics: </a:t>
            </a:r>
            <a:pPr indent="0" marL="0">
              <a:spcAft>
                <a:spcPts val="800"/>
              </a:spcAft>
              <a:buNone/>
            </a:pPr>
            <a:r>
              <a:rPr lang="en-US" sz="1500" dirty="0">
                <a:solidFill>
                  <a:srgbClr val="14181C"/>
                </a:solidFill>
              </a:rPr>
              <a:t>fulfilment rate, lead time (request to full delivery), critical requests within 24 h, distance, vehicle use.</a:t>
            </a:r>
            <a:endParaRPr lang="en-US" sz="1500" dirty="0"/>
          </a:p>
          <a:p>
            <a:pPr indent="0" marL="0">
              <a:spcAft>
                <a:spcPts val="800"/>
              </a:spcAft>
              <a:buNone/>
            </a:pPr>
            <a:r>
              <a:rPr lang="en-US" sz="1500" b="1" dirty="0">
                <a:solidFill>
                  <a:srgbClr val="14181C"/>
                </a:solidFill>
              </a:rPr>
              <a:t>Honest limits: </a:t>
            </a:r>
            <a:pPr indent="0" marL="0">
              <a:spcAft>
                <a:spcPts val="800"/>
              </a:spcAft>
              <a:buNone/>
            </a:pPr>
            <a:r>
              <a:rPr lang="en-US" sz="1500" dirty="0">
                <a:solidFill>
                  <a:srgbClr val="14181C"/>
                </a:solidFill>
              </a:rPr>
              <a:t>synthetic data, straight-line distances, constant speeds, no breakdowns.</a:t>
            </a:r>
            <a:endParaRPr lang="en-US" sz="1500" dirty="0"/>
          </a:p>
        </p:txBody>
      </p:sp>
      <p:sp>
        <p:nvSpPr>
          <p:cNvPr id="13" name="Text 1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Result 1: BALANCED is fastest from medium size upward</a:t>
            </a:r>
            <a:endParaRPr lang="en-US" sz="3000" dirty="0"/>
          </a:p>
        </p:txBody>
      </p:sp>
      <p:graphicFrame>
        <p:nvGraphicFramePr>
          <p:cNvPr id="4" name="Chart 0" descr=""/>
          <p:cNvGraphicFramePr/>
          <p:nvPr/>
        </p:nvGraphicFramePr>
        <p:xfrm>
          <a:off x="457200" y="109728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400800" y="1371600"/>
            <a:ext cx="2286000" cy="2743200"/>
          </a:xfrm>
          <a:prstGeom prst="rect">
            <a:avLst/>
          </a:prstGeom>
          <a:noFill/>
          <a:ln/>
        </p:spPr>
        <p:txBody>
          <a:bodyPr wrap="square" lIns="0" tIns="0" rIns="0" bIns="0" rtlCol="0" anchor="t"/>
          <a:lstStyle/>
          <a:p>
            <a:pPr indent="0" marL="0">
              <a:buNone/>
            </a:pPr>
            <a:r>
              <a:rPr lang="en-US" sz="4000" b="1" dirty="0">
                <a:solidFill>
                  <a:srgbClr val="5B7B4A"/>
                </a:solidFill>
                <a:latin typeface="Cambria" pitchFamily="34" charset="0"/>
                <a:ea typeface="Cambria" pitchFamily="34" charset="-122"/>
                <a:cs typeface="Cambria" pitchFamily="34" charset="-120"/>
              </a:rPr>
              <a:t>6.3 h</a:t>
            </a:r>
            <a:endParaRPr lang="en-US" sz="4000" dirty="0"/>
          </a:p>
          <a:p>
            <a:pPr indent="0" marL="0">
              <a:buNone/>
            </a:pPr>
            <a:r>
              <a:rPr lang="en-US" sz="1400" dirty="0">
                <a:solidFill>
                  <a:srgbClr val="14181C"/>
                </a:solidFill>
              </a:rPr>
              <a:t>faster than NEAREST on large (p &lt; 0.001 after correction)</a:t>
            </a:r>
            <a:endParaRPr lang="en-US" sz="4000" dirty="0"/>
          </a:p>
          <a:p>
            <a:pPr indent="0" marL="0">
              <a:buNone/>
            </a:pPr>
            <a:r>
              <a:rPr lang="en-US" sz="800" dirty="0">
                <a:solidFill>
                  <a:srgbClr val="000000"/>
                </a:solidFill>
              </a:rPr>
              <a:t> </a:t>
            </a:r>
            <a:endParaRPr lang="en-US" sz="4000" dirty="0"/>
          </a:p>
          <a:p>
            <a:pPr indent="0" marL="0">
              <a:buNone/>
            </a:pPr>
            <a:r>
              <a:rPr lang="en-US" sz="1400" dirty="0">
                <a:solidFill>
                  <a:srgbClr val="14181C"/>
                </a:solidFill>
              </a:rPr>
              <a:t>NEAREST drives the fewest kilometres; SURPLUS about 42% more on large.</a:t>
            </a:r>
            <a:endParaRPr lang="en-US" sz="4000" dirty="0"/>
          </a:p>
        </p:txBody>
      </p:sp>
      <p:sp>
        <p:nvSpPr>
          <p:cNvPr id="6" name="Text 2"/>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Result 2: coordination beats the random baseline</a:t>
            </a:r>
            <a:endParaRPr lang="en-US" sz="3000" dirty="0"/>
          </a:p>
        </p:txBody>
      </p:sp>
      <p:sp>
        <p:nvSpPr>
          <p:cNvPr id="4" name="Shape 1"/>
          <p:cNvSpPr/>
          <p:nvPr/>
        </p:nvSpPr>
        <p:spPr>
          <a:xfrm>
            <a:off x="457200" y="1188720"/>
            <a:ext cx="4023360" cy="1371600"/>
          </a:xfrm>
          <a:prstGeom prst="rect">
            <a:avLst/>
          </a:prstGeom>
          <a:solidFill>
            <a:srgbClr val="EEF1EA"/>
          </a:solidFill>
          <a:ln w="9525">
            <a:solidFill>
              <a:srgbClr val="D5DACC"/>
            </a:solidFill>
            <a:prstDash val="solid"/>
          </a:ln>
        </p:spPr>
      </p:sp>
      <p:sp>
        <p:nvSpPr>
          <p:cNvPr id="5" name="Text 2"/>
          <p:cNvSpPr txBox="1"/>
          <p:nvPr/>
        </p:nvSpPr>
        <p:spPr>
          <a:xfrm>
            <a:off x="685800" y="1325880"/>
            <a:ext cx="3566160" cy="731520"/>
          </a:xfrm>
          <a:prstGeom prst="rect">
            <a:avLst/>
          </a:prstGeom>
          <a:noFill/>
          <a:ln/>
        </p:spPr>
        <p:txBody>
          <a:bodyPr wrap="square" lIns="0" tIns="0" rIns="0" bIns="0" rtlCol="0" anchor="ctr"/>
          <a:lstStyle/>
          <a:p>
            <a:pPr indent="0" marL="0">
              <a:buNone/>
            </a:pPr>
            <a:r>
              <a:rPr lang="en-US" sz="3400" b="1" dirty="0">
                <a:solidFill>
                  <a:srgbClr val="2F3B2F"/>
                </a:solidFill>
                <a:latin typeface="Cambria" pitchFamily="34" charset="0"/>
                <a:ea typeface="Cambria" pitchFamily="34" charset="-122"/>
                <a:cs typeface="Cambria" pitchFamily="34" charset="-120"/>
              </a:rPr>
              <a:t>24 h vs 46 h</a:t>
            </a:r>
            <a:endParaRPr lang="en-US" sz="3400" dirty="0"/>
          </a:p>
        </p:txBody>
      </p:sp>
      <p:sp>
        <p:nvSpPr>
          <p:cNvPr id="6" name="Text 3"/>
          <p:cNvSpPr txBox="1"/>
          <p:nvPr/>
        </p:nvSpPr>
        <p:spPr>
          <a:xfrm>
            <a:off x="685800" y="2057400"/>
            <a:ext cx="3566160" cy="365760"/>
          </a:xfrm>
          <a:prstGeom prst="rect">
            <a:avLst/>
          </a:prstGeom>
          <a:noFill/>
          <a:ln/>
        </p:spPr>
        <p:txBody>
          <a:bodyPr wrap="square" lIns="0" tIns="0" rIns="0" bIns="0" rtlCol="0" anchor="ctr"/>
          <a:lstStyle/>
          <a:p>
            <a:pPr indent="0" marL="0">
              <a:buNone/>
            </a:pPr>
            <a:r>
              <a:rPr lang="en-US" sz="1400" dirty="0">
                <a:solidFill>
                  <a:srgbClr val="5A646E"/>
                </a:solidFill>
              </a:rPr>
              <a:t>lead time, small</a:t>
            </a:r>
            <a:endParaRPr lang="en-US" sz="1400" dirty="0"/>
          </a:p>
        </p:txBody>
      </p:sp>
      <p:sp>
        <p:nvSpPr>
          <p:cNvPr id="7" name="Shape 4"/>
          <p:cNvSpPr/>
          <p:nvPr/>
        </p:nvSpPr>
        <p:spPr>
          <a:xfrm>
            <a:off x="4663440" y="1188720"/>
            <a:ext cx="4023360" cy="1371600"/>
          </a:xfrm>
          <a:prstGeom prst="rect">
            <a:avLst/>
          </a:prstGeom>
          <a:solidFill>
            <a:srgbClr val="EEF1EA"/>
          </a:solidFill>
          <a:ln w="9525">
            <a:solidFill>
              <a:srgbClr val="D5DACC"/>
            </a:solidFill>
            <a:prstDash val="solid"/>
          </a:ln>
        </p:spPr>
      </p:sp>
      <p:sp>
        <p:nvSpPr>
          <p:cNvPr id="8" name="Text 5"/>
          <p:cNvSpPr txBox="1"/>
          <p:nvPr/>
        </p:nvSpPr>
        <p:spPr>
          <a:xfrm>
            <a:off x="4892040" y="1325880"/>
            <a:ext cx="3566160" cy="731520"/>
          </a:xfrm>
          <a:prstGeom prst="rect">
            <a:avLst/>
          </a:prstGeom>
          <a:noFill/>
          <a:ln/>
        </p:spPr>
        <p:txBody>
          <a:bodyPr wrap="square" lIns="0" tIns="0" rIns="0" bIns="0" rtlCol="0" anchor="ctr"/>
          <a:lstStyle/>
          <a:p>
            <a:pPr indent="0" marL="0">
              <a:buNone/>
            </a:pPr>
            <a:r>
              <a:rPr lang="en-US" sz="3400" b="1" dirty="0">
                <a:solidFill>
                  <a:srgbClr val="2F3B2F"/>
                </a:solidFill>
                <a:latin typeface="Cambria" pitchFamily="34" charset="0"/>
                <a:ea typeface="Cambria" pitchFamily="34" charset="-122"/>
                <a:cs typeface="Cambria" pitchFamily="34" charset="-120"/>
              </a:rPr>
              <a:t>35 h vs 85 h</a:t>
            </a:r>
            <a:endParaRPr lang="en-US" sz="3400" dirty="0"/>
          </a:p>
        </p:txBody>
      </p:sp>
      <p:sp>
        <p:nvSpPr>
          <p:cNvPr id="9" name="Text 6"/>
          <p:cNvSpPr txBox="1"/>
          <p:nvPr/>
        </p:nvSpPr>
        <p:spPr>
          <a:xfrm>
            <a:off x="4892040" y="2057400"/>
            <a:ext cx="3566160" cy="365760"/>
          </a:xfrm>
          <a:prstGeom prst="rect">
            <a:avLst/>
          </a:prstGeom>
          <a:noFill/>
          <a:ln/>
        </p:spPr>
        <p:txBody>
          <a:bodyPr wrap="square" lIns="0" tIns="0" rIns="0" bIns="0" rtlCol="0" anchor="ctr"/>
          <a:lstStyle/>
          <a:p>
            <a:pPr indent="0" marL="0">
              <a:buNone/>
            </a:pPr>
            <a:r>
              <a:rPr lang="en-US" sz="1400" dirty="0">
                <a:solidFill>
                  <a:srgbClr val="5A646E"/>
                </a:solidFill>
              </a:rPr>
              <a:t>lead time, large</a:t>
            </a:r>
            <a:endParaRPr lang="en-US" sz="1400" dirty="0"/>
          </a:p>
        </p:txBody>
      </p:sp>
      <p:sp>
        <p:nvSpPr>
          <p:cNvPr id="10" name="Shape 7"/>
          <p:cNvSpPr/>
          <p:nvPr/>
        </p:nvSpPr>
        <p:spPr>
          <a:xfrm>
            <a:off x="457200" y="2788920"/>
            <a:ext cx="4023360" cy="1371600"/>
          </a:xfrm>
          <a:prstGeom prst="rect">
            <a:avLst/>
          </a:prstGeom>
          <a:solidFill>
            <a:srgbClr val="2F3B2F"/>
          </a:solidFill>
          <a:ln w="9525">
            <a:solidFill>
              <a:srgbClr val="D5DACC"/>
            </a:solidFill>
            <a:prstDash val="solid"/>
          </a:ln>
        </p:spPr>
      </p:sp>
      <p:sp>
        <p:nvSpPr>
          <p:cNvPr id="11" name="Text 8"/>
          <p:cNvSpPr txBox="1"/>
          <p:nvPr/>
        </p:nvSpPr>
        <p:spPr>
          <a:xfrm>
            <a:off x="685800" y="2926080"/>
            <a:ext cx="3566160" cy="731520"/>
          </a:xfrm>
          <a:prstGeom prst="rect">
            <a:avLst/>
          </a:prstGeom>
          <a:noFill/>
          <a:ln/>
        </p:spPr>
        <p:txBody>
          <a:bodyPr wrap="square" lIns="0" tIns="0" rIns="0" bIns="0" rtlCol="0" anchor="ctr"/>
          <a:lstStyle/>
          <a:p>
            <a:pPr indent="0" marL="0">
              <a:buNone/>
            </a:pPr>
            <a:r>
              <a:rPr lang="en-US" sz="3400" b="1" dirty="0">
                <a:solidFill>
                  <a:srgbClr val="E0A400"/>
                </a:solidFill>
                <a:latin typeface="Cambria" pitchFamily="34" charset="0"/>
                <a:ea typeface="Cambria" pitchFamily="34" charset="-122"/>
                <a:cs typeface="Cambria" pitchFamily="34" charset="-120"/>
              </a:rPr>
              <a:t>84% vs 32%</a:t>
            </a:r>
            <a:endParaRPr lang="en-US" sz="3400" dirty="0"/>
          </a:p>
        </p:txBody>
      </p:sp>
      <p:sp>
        <p:nvSpPr>
          <p:cNvPr id="12" name="Text 9"/>
          <p:cNvSpPr txBox="1"/>
          <p:nvPr/>
        </p:nvSpPr>
        <p:spPr>
          <a:xfrm>
            <a:off x="685800" y="3657600"/>
            <a:ext cx="3566160" cy="365760"/>
          </a:xfrm>
          <a:prstGeom prst="rect">
            <a:avLst/>
          </a:prstGeom>
          <a:noFill/>
          <a:ln/>
        </p:spPr>
        <p:txBody>
          <a:bodyPr wrap="square" lIns="0" tIns="0" rIns="0" bIns="0" rtlCol="0" anchor="ctr"/>
          <a:lstStyle/>
          <a:p>
            <a:pPr indent="0" marL="0">
              <a:buNone/>
            </a:pPr>
            <a:r>
              <a:rPr lang="en-US" sz="1400" dirty="0">
                <a:solidFill>
                  <a:srgbClr val="FFFFFF"/>
                </a:solidFill>
              </a:rPr>
              <a:t>critical requests within 24 h, large</a:t>
            </a:r>
            <a:endParaRPr lang="en-US" sz="1400" dirty="0"/>
          </a:p>
        </p:txBody>
      </p:sp>
      <p:sp>
        <p:nvSpPr>
          <p:cNvPr id="13" name="Shape 10"/>
          <p:cNvSpPr/>
          <p:nvPr/>
        </p:nvSpPr>
        <p:spPr>
          <a:xfrm>
            <a:off x="4663440" y="2788920"/>
            <a:ext cx="4023360" cy="1371600"/>
          </a:xfrm>
          <a:prstGeom prst="rect">
            <a:avLst/>
          </a:prstGeom>
          <a:solidFill>
            <a:srgbClr val="EEF1EA"/>
          </a:solidFill>
          <a:ln w="9525">
            <a:solidFill>
              <a:srgbClr val="D5DACC"/>
            </a:solidFill>
            <a:prstDash val="solid"/>
          </a:ln>
        </p:spPr>
      </p:sp>
      <p:sp>
        <p:nvSpPr>
          <p:cNvPr id="14" name="Text 11"/>
          <p:cNvSpPr txBox="1"/>
          <p:nvPr/>
        </p:nvSpPr>
        <p:spPr>
          <a:xfrm>
            <a:off x="4892040" y="2926080"/>
            <a:ext cx="3566160" cy="731520"/>
          </a:xfrm>
          <a:prstGeom prst="rect">
            <a:avLst/>
          </a:prstGeom>
          <a:noFill/>
          <a:ln/>
        </p:spPr>
        <p:txBody>
          <a:bodyPr wrap="square" lIns="0" tIns="0" rIns="0" bIns="0" rtlCol="0" anchor="ctr"/>
          <a:lstStyle/>
          <a:p>
            <a:pPr indent="0" marL="0">
              <a:buNone/>
            </a:pPr>
            <a:r>
              <a:rPr lang="en-US" sz="3400" b="1" dirty="0">
                <a:solidFill>
                  <a:srgbClr val="2F3B2F"/>
                </a:solidFill>
                <a:latin typeface="Cambria" pitchFamily="34" charset="0"/>
                <a:ea typeface="Cambria" pitchFamily="34" charset="-122"/>
                <a:cs typeface="Cambria" pitchFamily="34" charset="-120"/>
              </a:rPr>
              <a:t>-42%</a:t>
            </a:r>
            <a:endParaRPr lang="en-US" sz="3400" dirty="0"/>
          </a:p>
        </p:txBody>
      </p:sp>
      <p:sp>
        <p:nvSpPr>
          <p:cNvPr id="15" name="Text 12"/>
          <p:cNvSpPr txBox="1"/>
          <p:nvPr/>
        </p:nvSpPr>
        <p:spPr>
          <a:xfrm>
            <a:off x="4892040" y="3657600"/>
            <a:ext cx="3566160" cy="365760"/>
          </a:xfrm>
          <a:prstGeom prst="rect">
            <a:avLst/>
          </a:prstGeom>
          <a:noFill/>
          <a:ln/>
        </p:spPr>
        <p:txBody>
          <a:bodyPr wrap="square" lIns="0" tIns="0" rIns="0" bIns="0" rtlCol="0" anchor="ctr"/>
          <a:lstStyle/>
          <a:p>
            <a:pPr indent="0" marL="0">
              <a:buNone/>
            </a:pPr>
            <a:r>
              <a:rPr lang="en-US" sz="1400" dirty="0">
                <a:solidFill>
                  <a:srgbClr val="5A646E"/>
                </a:solidFill>
              </a:rPr>
              <a:t>distance travelled, large</a:t>
            </a:r>
            <a:endParaRPr lang="en-US" sz="1400" dirty="0"/>
          </a:p>
        </p:txBody>
      </p:sp>
      <p:sp>
        <p:nvSpPr>
          <p:cNvPr id="16" name="Text 13"/>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200" dirty="0">
                <a:solidFill>
                  <a:srgbClr val="5A646E"/>
                </a:solidFill>
              </a:rPr>
              <a:t>Coordinated = NEAREST donor + FASTEST vehicle. Baseline = random donor + random vehicle. The baseline is deliberately weak.</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14181C"/>
                </a:solidFill>
                <a:latin typeface="Cambria" pitchFamily="34" charset="0"/>
                <a:ea typeface="Cambria" pitchFamily="34" charset="-122"/>
                <a:cs typeface="Cambria" pitchFamily="34" charset="-120"/>
              </a:rPr>
              <a:t>Quality: tests, reproducibility and honest limits</a:t>
            </a:r>
            <a:endParaRPr lang="en-US" sz="3000" dirty="0"/>
          </a:p>
        </p:txBody>
      </p:sp>
      <p:sp>
        <p:nvSpPr>
          <p:cNvPr id="4" name="Shape 1"/>
          <p:cNvSpPr/>
          <p:nvPr/>
        </p:nvSpPr>
        <p:spPr>
          <a:xfrm>
            <a:off x="457200" y="1143000"/>
            <a:ext cx="2606040" cy="3200400"/>
          </a:xfrm>
          <a:prstGeom prst="rect">
            <a:avLst/>
          </a:prstGeom>
          <a:solidFill>
            <a:srgbClr val="EEF1EA"/>
          </a:solidFill>
          <a:ln w="9525">
            <a:solidFill>
              <a:srgbClr val="D5DACC"/>
            </a:solidFill>
            <a:prstDash val="solid"/>
          </a:ln>
        </p:spPr>
      </p:sp>
      <p:sp>
        <p:nvSpPr>
          <p:cNvPr id="5" name="Text 2"/>
          <p:cNvSpPr txBox="1"/>
          <p:nvPr/>
        </p:nvSpPr>
        <p:spPr>
          <a:xfrm>
            <a:off x="594360" y="1234440"/>
            <a:ext cx="2331720" cy="365760"/>
          </a:xfrm>
          <a:prstGeom prst="rect">
            <a:avLst/>
          </a:prstGeom>
          <a:noFill/>
          <a:ln/>
        </p:spPr>
        <p:txBody>
          <a:bodyPr wrap="square" lIns="0" tIns="0" rIns="0" bIns="0" rtlCol="0" anchor="ctr"/>
          <a:lstStyle/>
          <a:p>
            <a:pPr indent="0" marL="0">
              <a:buNone/>
            </a:pPr>
            <a:r>
              <a:rPr lang="en-US" sz="1600" b="1" dirty="0">
                <a:solidFill>
                  <a:srgbClr val="5B7B4A"/>
                </a:solidFill>
                <a:latin typeface="Cambria" pitchFamily="34" charset="0"/>
                <a:ea typeface="Cambria" pitchFamily="34" charset="-122"/>
                <a:cs typeface="Cambria" pitchFamily="34" charset="-120"/>
              </a:rPr>
              <a:t>119 tests</a:t>
            </a:r>
            <a:endParaRPr lang="en-US" sz="1600" dirty="0"/>
          </a:p>
        </p:txBody>
      </p:sp>
      <p:sp>
        <p:nvSpPr>
          <p:cNvPr id="6" name="Text 3"/>
          <p:cNvSpPr txBox="1"/>
          <p:nvPr/>
        </p:nvSpPr>
        <p:spPr>
          <a:xfrm>
            <a:off x="594360" y="1618488"/>
            <a:ext cx="2331720" cy="265176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21 test classes cover all 66 types. Run with one command (com.dlscms.RunAll).</a:t>
            </a:r>
            <a:endParaRPr lang="en-US" sz="1600" dirty="0"/>
          </a:p>
        </p:txBody>
      </p:sp>
      <p:sp>
        <p:nvSpPr>
          <p:cNvPr id="7" name="Shape 4"/>
          <p:cNvSpPr/>
          <p:nvPr/>
        </p:nvSpPr>
        <p:spPr>
          <a:xfrm>
            <a:off x="3268980" y="1143000"/>
            <a:ext cx="2606040" cy="3200400"/>
          </a:xfrm>
          <a:prstGeom prst="rect">
            <a:avLst/>
          </a:prstGeom>
          <a:solidFill>
            <a:srgbClr val="EEF1EA"/>
          </a:solidFill>
          <a:ln w="9525">
            <a:solidFill>
              <a:srgbClr val="D5DACC"/>
            </a:solidFill>
            <a:prstDash val="solid"/>
          </a:ln>
        </p:spPr>
      </p:sp>
      <p:sp>
        <p:nvSpPr>
          <p:cNvPr id="8" name="Text 5"/>
          <p:cNvSpPr txBox="1"/>
          <p:nvPr/>
        </p:nvSpPr>
        <p:spPr>
          <a:xfrm>
            <a:off x="3406140" y="1234440"/>
            <a:ext cx="2331720" cy="365760"/>
          </a:xfrm>
          <a:prstGeom prst="rect">
            <a:avLst/>
          </a:prstGeom>
          <a:noFill/>
          <a:ln/>
        </p:spPr>
        <p:txBody>
          <a:bodyPr wrap="square" lIns="0" tIns="0" rIns="0" bIns="0" rtlCol="0" anchor="ctr"/>
          <a:lstStyle/>
          <a:p>
            <a:pPr indent="0" marL="0">
              <a:buNone/>
            </a:pPr>
            <a:r>
              <a:rPr lang="en-US" sz="1600" b="1" dirty="0">
                <a:solidFill>
                  <a:srgbClr val="3E6A8A"/>
                </a:solidFill>
                <a:latin typeface="Cambria" pitchFamily="34" charset="0"/>
                <a:ea typeface="Cambria" pitchFamily="34" charset="-122"/>
                <a:cs typeface="Cambria" pitchFamily="34" charset="-120"/>
              </a:rPr>
              <a:t>Reproducible</a:t>
            </a:r>
            <a:endParaRPr lang="en-US" sz="1600" dirty="0"/>
          </a:p>
        </p:txBody>
      </p:sp>
      <p:sp>
        <p:nvSpPr>
          <p:cNvPr id="9" name="Text 6"/>
          <p:cNvSpPr txBox="1"/>
          <p:nvPr/>
        </p:nvSpPr>
        <p:spPr>
          <a:xfrm>
            <a:off x="3406140" y="1618488"/>
            <a:ext cx="2331720" cy="265176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Fixed seeds; a script re-runs the grid and compares every number with the saved results.</a:t>
            </a:r>
            <a:endParaRPr lang="en-US" sz="1600" dirty="0"/>
          </a:p>
        </p:txBody>
      </p:sp>
      <p:sp>
        <p:nvSpPr>
          <p:cNvPr id="10" name="Shape 7"/>
          <p:cNvSpPr/>
          <p:nvPr/>
        </p:nvSpPr>
        <p:spPr>
          <a:xfrm>
            <a:off x="6080760" y="1143000"/>
            <a:ext cx="2606040" cy="3200400"/>
          </a:xfrm>
          <a:prstGeom prst="rect">
            <a:avLst/>
          </a:prstGeom>
          <a:solidFill>
            <a:srgbClr val="EEF1EA"/>
          </a:solidFill>
          <a:ln w="9525">
            <a:solidFill>
              <a:srgbClr val="D5DACC"/>
            </a:solidFill>
            <a:prstDash val="solid"/>
          </a:ln>
        </p:spPr>
      </p:sp>
      <p:sp>
        <p:nvSpPr>
          <p:cNvPr id="11" name="Text 8"/>
          <p:cNvSpPr txBox="1"/>
          <p:nvPr/>
        </p:nvSpPr>
        <p:spPr>
          <a:xfrm>
            <a:off x="6217920" y="1234440"/>
            <a:ext cx="2331720" cy="365760"/>
          </a:xfrm>
          <a:prstGeom prst="rect">
            <a:avLst/>
          </a:prstGeom>
          <a:noFill/>
          <a:ln/>
        </p:spPr>
        <p:txBody>
          <a:bodyPr wrap="square" lIns="0" tIns="0" rIns="0" bIns="0" rtlCol="0" anchor="ctr"/>
          <a:lstStyle/>
          <a:p>
            <a:pPr indent="0" marL="0">
              <a:buNone/>
            </a:pPr>
            <a:r>
              <a:rPr lang="en-US" sz="1600" b="1" dirty="0">
                <a:solidFill>
                  <a:srgbClr val="B5543C"/>
                </a:solidFill>
                <a:latin typeface="Cambria" pitchFamily="34" charset="0"/>
                <a:ea typeface="Cambria" pitchFamily="34" charset="-122"/>
                <a:cs typeface="Cambria" pitchFamily="34" charset="-120"/>
              </a:rPr>
              <a:t>Known gaps</a:t>
            </a:r>
            <a:endParaRPr lang="en-US" sz="1600" dirty="0"/>
          </a:p>
        </p:txBody>
      </p:sp>
      <p:sp>
        <p:nvSpPr>
          <p:cNvPr id="12" name="Text 9"/>
          <p:cNvSpPr txBox="1"/>
          <p:nvPr/>
        </p:nvSpPr>
        <p:spPr>
          <a:xfrm>
            <a:off x="6217920" y="1618488"/>
            <a:ext cx="2331720" cy="2651760"/>
          </a:xfrm>
          <a:prstGeom prst="rect">
            <a:avLst/>
          </a:prstGeom>
          <a:noFill/>
          <a:ln/>
        </p:spPr>
        <p:txBody>
          <a:bodyPr wrap="square" lIns="0" tIns="0" rIns="0" bIns="0" rtlCol="0" anchor="t"/>
          <a:lstStyle/>
          <a:p>
            <a:pPr indent="0" marL="0">
              <a:spcAft>
                <a:spcPts val="600"/>
              </a:spcAft>
              <a:buNone/>
            </a:pPr>
            <a:r>
              <a:rPr lang="en-US" sz="1600" dirty="0">
                <a:solidFill>
                  <a:srgbClr val="14181C"/>
                </a:solidFill>
              </a:rPr>
              <a:t>1-3% of requests stay open: donors keep a reserve and fuel trucks are scarce. We explain it, we did not remove it.</a:t>
            </a:r>
            <a:endParaRPr lang="en-US" sz="1600" dirty="0"/>
          </a:p>
        </p:txBody>
      </p:sp>
      <p:sp>
        <p:nvSpPr>
          <p:cNvPr id="13" name="Text 1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A646E"/>
                </a:solidFill>
              </a:rPr>
              <a:t>DLSCMS  |  NMIMS MPSTME  |  27/29 Oct 2026</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6E"/>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Summary and links</a:t>
            </a:r>
            <a:endParaRPr lang="en-US" sz="3400" dirty="0"/>
          </a:p>
        </p:txBody>
      </p:sp>
      <p:sp>
        <p:nvSpPr>
          <p:cNvPr id="3" name="Text 1"/>
          <p:cNvSpPr txBox="1"/>
          <p:nvPr/>
        </p:nvSpPr>
        <p:spPr>
          <a:xfrm>
            <a:off x="548640" y="1188720"/>
            <a:ext cx="786384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FFFFF"/>
                </a:solidFill>
              </a:rPr>
              <a:t>Clean OOP design: facade, strategies, vehicle hierarchy, generics</a:t>
            </a:r>
            <a:endParaRPr lang="en-US" sz="1700" dirty="0"/>
          </a:p>
          <a:p>
            <a:pPr marL="342900" indent="-342900">
              <a:spcAft>
                <a:spcPts val="800"/>
              </a:spcAft>
              <a:buSzPct val="100000"/>
              <a:buChar char="•"/>
            </a:pPr>
            <a:r>
              <a:rPr lang="en-US" sz="1700" dirty="0">
                <a:solidFill>
                  <a:srgbClr val="FFFFFF"/>
                </a:solidFill>
              </a:rPr>
              <a:t>Swappable dispatch rules, measured over 1,080 runs</a:t>
            </a:r>
            <a:endParaRPr lang="en-US" sz="1700" dirty="0"/>
          </a:p>
          <a:p>
            <a:pPr marL="342900" indent="-342900">
              <a:spcAft>
                <a:spcPts val="800"/>
              </a:spcAft>
              <a:buSzPct val="100000"/>
              <a:buChar char="•"/>
            </a:pPr>
            <a:r>
              <a:rPr lang="en-US" sz="1700" dirty="0">
                <a:solidFill>
                  <a:srgbClr val="FFFFFF"/>
                </a:solidFill>
              </a:rPr>
              <a:t>BALANCED donor selection is fastest at scale; coordination clearly beats random</a:t>
            </a:r>
            <a:endParaRPr lang="en-US" sz="1700" dirty="0"/>
          </a:p>
          <a:p>
            <a:pPr marL="342900" indent="-342900">
              <a:spcAft>
                <a:spcPts val="800"/>
              </a:spcAft>
              <a:buSzPct val="100000"/>
              <a:buChar char="•"/>
            </a:pPr>
            <a:r>
              <a:rPr lang="en-US" sz="1700" dirty="0">
                <a:solidFill>
                  <a:srgbClr val="FFFFFF"/>
                </a:solidFill>
              </a:rPr>
              <a:t>Next: longer horizons, bigger fuel fleet, real-world data</a:t>
            </a:r>
            <a:endParaRPr lang="en-US" sz="1700" dirty="0"/>
          </a:p>
        </p:txBody>
      </p:sp>
      <p:sp>
        <p:nvSpPr>
          <p:cNvPr id="4" name="Text 2"/>
          <p:cNvSpPr txBox="1"/>
          <p:nvPr/>
        </p:nvSpPr>
        <p:spPr>
          <a:xfrm>
            <a:off x="548640" y="3291840"/>
            <a:ext cx="8046720" cy="731520"/>
          </a:xfrm>
          <a:prstGeom prst="rect">
            <a:avLst/>
          </a:prstGeom>
          <a:noFill/>
          <a:ln/>
        </p:spPr>
        <p:txBody>
          <a:bodyPr wrap="square" lIns="0" tIns="0" rIns="0" bIns="0" rtlCol="0" anchor="ctr"/>
          <a:lstStyle/>
          <a:p>
            <a:pPr indent="0" marL="0">
              <a:buNone/>
            </a:pPr>
            <a:r>
              <a:rPr lang="en-US" sz="1500" b="1" dirty="0">
                <a:solidFill>
                  <a:srgbClr val="E0A400"/>
                </a:solidFill>
              </a:rPr>
              <a:t>Source code and UML on GitHub</a:t>
            </a:r>
            <a:endParaRPr lang="en-US" sz="1500" dirty="0"/>
          </a:p>
          <a:p>
            <a:pPr indent="0" marL="0">
              <a:buNone/>
            </a:pPr>
            <a:r>
              <a:rPr lang="en-US" sz="1100" u="sng" dirty="0">
                <a:solidFill>
                  <a:srgbClr val="9CC3E0"/>
                </a:solidFill>
                <a:hlinkClick r:id="rId1" invalidUrl="" action="" tgtFrame="" tooltip="" history="1" highlightClick="0" endSnd="0">
                  <a:extLst>
                    <a:ext uri="{A12FA001-AC4F-418D-AE19-62706E023703}">
                      <ahyp:hlinkClr xmlns:ahyp="http://schemas.microsoft.com/office/drawing/2018/hyperlinkcolor" val="tx"/>
                    </a:ext>
                  </a:extLst>
                </a:hlinkClick>
              </a:rPr>
              <a:t>https://github.com/withvedantpathak/defence_logistics_and_supply_chain_management_system_using_objectorientedprogramming</a:t>
            </a:r>
            <a:endParaRPr lang="en-US" sz="1500" dirty="0"/>
          </a:p>
        </p:txBody>
      </p:sp>
      <p:sp>
        <p:nvSpPr>
          <p:cNvPr id="5" name="Text 3"/>
          <p:cNvSpPr txBox="1"/>
          <p:nvPr/>
        </p:nvSpPr>
        <p:spPr>
          <a:xfrm>
            <a:off x="548640" y="4206240"/>
            <a:ext cx="5486400" cy="365760"/>
          </a:xfrm>
          <a:prstGeom prst="rect">
            <a:avLst/>
          </a:prstGeom>
          <a:noFill/>
          <a:ln/>
        </p:spPr>
        <p:txBody>
          <a:bodyPr wrap="square" lIns="0" tIns="0" rIns="0" bIns="0" rtlCol="0" anchor="ctr"/>
          <a:lstStyle/>
          <a:p>
            <a:pPr indent="0" marL="0">
              <a:buNone/>
            </a:pPr>
            <a:r>
              <a:rPr lang="en-US" sz="1800" dirty="0">
                <a:solidFill>
                  <a:srgbClr val="C9D3BE"/>
                </a:solidFill>
              </a:rPr>
              <a:t>Thank you. Questions?</a:t>
            </a:r>
            <a:endParaRPr lang="en-US" sz="18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DLSCMS">
  <a:themeElements>
    <a:clrScheme name="DLSCMS">
      <a:dk1>
        <a:srgbClr val="14181C"/>
      </a:dk1>
      <a:lt1>
        <a:srgbClr val="FFFFFF"/>
      </a:lt1>
      <a:dk2>
        <a:srgbClr val="2F3B2F"/>
      </a:dk2>
      <a:lt2>
        <a:srgbClr val="EEF1EA"/>
      </a:lt2>
      <a:accent1>
        <a:srgbClr val="E0A400"/>
      </a:accent1>
      <a:accent2>
        <a:srgbClr val="5B7B4A"/>
      </a:accent2>
      <a:accent3>
        <a:srgbClr val="3E6A8A"/>
      </a:accent3>
      <a:accent4>
        <a:srgbClr val="B5543C"/>
      </a:accent4>
      <a:accent5>
        <a:srgbClr val="7A8590"/>
      </a:accent5>
      <a:accent6>
        <a:srgbClr val="C9D3BE"/>
      </a:accent6>
      <a:hlink>
        <a:srgbClr val="3E6A8A"/>
      </a:hlink>
      <a:folHlink>
        <a:srgbClr val="7A8590"/>
      </a:folHlink>
    </a:clrScheme>
    <a:fontScheme name="DLSC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Defence Logistics and Supply Chain Management System</dc:title>
  <dc:subject>PptxGenJS Presentation</dc:subject>
  <dc:creator>Vedant Pathak, Dhairya Shah, Kanishak Thakran</dc:creator>
  <cp:lastModifiedBy>Vedant Pathak, Dhairya Shah, Kanishak Thakran</cp:lastModifiedBy>
  <cp:revision>1</cp:revision>
  <dcterms:created xsi:type="dcterms:W3CDTF">2026-10-19T12:45:28Z</dcterms:created>
  <dcterms:modified xsi:type="dcterms:W3CDTF">2026-10-19T12:45:28Z</dcterms:modified>
</cp:coreProperties>
</file>